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y="5040300" cx="8999525"/>
  <p:notesSz cx="6858000" cy="9144000"/>
  <p:embeddedFontLst>
    <p:embeddedFont>
      <p:font typeface="Montserrat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289">
          <p15:clr>
            <a:srgbClr val="747775"/>
          </p15:clr>
        </p15:guide>
        <p15:guide id="2" orient="horz" pos="3028">
          <p15:clr>
            <a:srgbClr val="747775"/>
          </p15:clr>
        </p15:guide>
        <p15:guide id="3" orient="horz" pos="534">
          <p15:clr>
            <a:srgbClr val="747775"/>
          </p15:clr>
        </p15:guide>
        <p15:guide id="4" orient="horz" pos="843">
          <p15:clr>
            <a:srgbClr val="747775"/>
          </p15:clr>
        </p15:guide>
        <p15:guide id="5" orient="horz" pos="283">
          <p15:clr>
            <a:srgbClr val="747775"/>
          </p15:clr>
        </p15:guide>
      </p15:sldGuideLst>
    </p:ext>
    <p:ext uri="GoogleSlidesCustomDataVersion2">
      <go:slidesCustomData xmlns:go="http://customooxmlschemas.google.com/" r:id="rId22" roundtripDataSignature="AMtx7mhJqYRpqAJC9fto5G3kjxjiBDBh3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8922CF4-7657-4B3A-9E45-3B50D4FF3100}">
  <a:tblStyle styleId="{68922CF4-7657-4B3A-9E45-3B50D4FF3100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DFD"/>
          </a:solidFill>
        </a:fill>
      </a:tcStyle>
    </a:wholeTbl>
    <a:band1H>
      <a:tcTxStyle/>
      <a:tcStyle>
        <a:fill>
          <a:solidFill>
            <a:srgbClr val="CDD8FB"/>
          </a:solidFill>
        </a:fill>
      </a:tcStyle>
    </a:band1H>
    <a:band2H>
      <a:tcTxStyle/>
    </a:band2H>
    <a:band1V>
      <a:tcTxStyle/>
      <a:tcStyle>
        <a:fill>
          <a:solidFill>
            <a:srgbClr val="CDD8FB"/>
          </a:solidFill>
        </a:fill>
      </a:tcStyle>
    </a:band1V>
    <a:band2V>
      <a:tcTxStyle/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9"/>
        <p:guide pos="3028" orient="horz"/>
        <p:guide pos="534" orient="horz"/>
        <p:guide pos="843" orient="horz"/>
        <p:guide pos="28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Montserrat-italic.fntdata"/><Relationship Id="rId11" Type="http://schemas.openxmlformats.org/officeDocument/2006/relationships/slide" Target="slides/slide5.xml"/><Relationship Id="rId22" Type="http://customschemas.google.com/relationships/presentationmetadata" Target="metadata"/><Relationship Id="rId10" Type="http://schemas.openxmlformats.org/officeDocument/2006/relationships/slide" Target="slides/slide4.xml"/><Relationship Id="rId21" Type="http://schemas.openxmlformats.org/officeDocument/2006/relationships/font" Target="fonts/Montserrat-boldItalic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font" Target="fonts/Montserrat-bold.fntdata"/><Relationship Id="rId6" Type="http://schemas.openxmlformats.org/officeDocument/2006/relationships/notesMaster" Target="notesMasters/notesMaster1.xml"/><Relationship Id="rId18" Type="http://schemas.openxmlformats.org/officeDocument/2006/relationships/font" Target="fonts/Montserrat-regular.fntdata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67712" y="685800"/>
            <a:ext cx="6123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68300" y="685800"/>
            <a:ext cx="6122988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:notes"/>
          <p:cNvSpPr/>
          <p:nvPr>
            <p:ph idx="2" type="sldImg"/>
          </p:nvPr>
        </p:nvSpPr>
        <p:spPr>
          <a:xfrm>
            <a:off x="368300" y="685800"/>
            <a:ext cx="6122988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:notes"/>
          <p:cNvSpPr/>
          <p:nvPr>
            <p:ph idx="2" type="sldImg"/>
          </p:nvPr>
        </p:nvSpPr>
        <p:spPr>
          <a:xfrm>
            <a:off x="368300" y="685800"/>
            <a:ext cx="6122988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" name="Google Shape;6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:notes"/>
          <p:cNvSpPr/>
          <p:nvPr>
            <p:ph idx="2" type="sldImg"/>
          </p:nvPr>
        </p:nvSpPr>
        <p:spPr>
          <a:xfrm>
            <a:off x="368300" y="685800"/>
            <a:ext cx="6122988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" name="Google Shape;7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:notes"/>
          <p:cNvSpPr/>
          <p:nvPr>
            <p:ph idx="2" type="sldImg"/>
          </p:nvPr>
        </p:nvSpPr>
        <p:spPr>
          <a:xfrm>
            <a:off x="368300" y="685800"/>
            <a:ext cx="6122988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b2ee44776e_0_17:notes"/>
          <p:cNvSpPr/>
          <p:nvPr>
            <p:ph idx="2" type="sldImg"/>
          </p:nvPr>
        </p:nvSpPr>
        <p:spPr>
          <a:xfrm>
            <a:off x="368300" y="685800"/>
            <a:ext cx="6123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g3b2ee44776e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b2ee44776e_0_25:notes"/>
          <p:cNvSpPr/>
          <p:nvPr>
            <p:ph idx="2" type="sldImg"/>
          </p:nvPr>
        </p:nvSpPr>
        <p:spPr>
          <a:xfrm>
            <a:off x="368300" y="685800"/>
            <a:ext cx="6123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3b2ee44776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b2f27df8c3_0_1:notes"/>
          <p:cNvSpPr/>
          <p:nvPr>
            <p:ph idx="2" type="sldImg"/>
          </p:nvPr>
        </p:nvSpPr>
        <p:spPr>
          <a:xfrm>
            <a:off x="368300" y="685800"/>
            <a:ext cx="6123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g3b2f27df8c3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b2f27df8c3_0_8:notes"/>
          <p:cNvSpPr/>
          <p:nvPr>
            <p:ph idx="2" type="sldImg"/>
          </p:nvPr>
        </p:nvSpPr>
        <p:spPr>
          <a:xfrm>
            <a:off x="368300" y="685800"/>
            <a:ext cx="6123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g3b2f27df8c3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/>
          <p:nvPr>
            <p:ph idx="2" type="sldImg"/>
          </p:nvPr>
        </p:nvSpPr>
        <p:spPr>
          <a:xfrm>
            <a:off x="368300" y="685800"/>
            <a:ext cx="6122988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8:notes"/>
          <p:cNvSpPr/>
          <p:nvPr>
            <p:ph idx="2" type="sldImg"/>
          </p:nvPr>
        </p:nvSpPr>
        <p:spPr>
          <a:xfrm>
            <a:off x="368300" y="685800"/>
            <a:ext cx="6122988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0"/>
          <p:cNvSpPr txBox="1"/>
          <p:nvPr>
            <p:ph type="ctrTitle"/>
          </p:nvPr>
        </p:nvSpPr>
        <p:spPr>
          <a:xfrm>
            <a:off x="306800" y="729592"/>
            <a:ext cx="8386500" cy="2011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30"/>
          <p:cNvSpPr txBox="1"/>
          <p:nvPr>
            <p:ph idx="1" type="subTitle"/>
          </p:nvPr>
        </p:nvSpPr>
        <p:spPr>
          <a:xfrm>
            <a:off x="306791" y="2777095"/>
            <a:ext cx="8386500" cy="77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30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1"/>
          <p:cNvSpPr txBox="1"/>
          <p:nvPr>
            <p:ph type="title"/>
          </p:nvPr>
        </p:nvSpPr>
        <p:spPr>
          <a:xfrm>
            <a:off x="306791" y="2107570"/>
            <a:ext cx="8386500" cy="8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1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2"/>
          <p:cNvSpPr txBox="1"/>
          <p:nvPr>
            <p:ph type="title"/>
          </p:nvPr>
        </p:nvSpPr>
        <p:spPr>
          <a:xfrm>
            <a:off x="306791" y="436070"/>
            <a:ext cx="83865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32"/>
          <p:cNvSpPr txBox="1"/>
          <p:nvPr>
            <p:ph idx="1" type="body"/>
          </p:nvPr>
        </p:nvSpPr>
        <p:spPr>
          <a:xfrm>
            <a:off x="306791" y="1129284"/>
            <a:ext cx="8386500" cy="33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32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3"/>
          <p:cNvSpPr txBox="1"/>
          <p:nvPr>
            <p:ph type="title"/>
          </p:nvPr>
        </p:nvSpPr>
        <p:spPr>
          <a:xfrm>
            <a:off x="306791" y="436070"/>
            <a:ext cx="83865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33"/>
          <p:cNvSpPr txBox="1"/>
          <p:nvPr>
            <p:ph idx="1" type="body"/>
          </p:nvPr>
        </p:nvSpPr>
        <p:spPr>
          <a:xfrm>
            <a:off x="306791" y="1129284"/>
            <a:ext cx="3936900" cy="33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33"/>
          <p:cNvSpPr txBox="1"/>
          <p:nvPr>
            <p:ph idx="2" type="body"/>
          </p:nvPr>
        </p:nvSpPr>
        <p:spPr>
          <a:xfrm>
            <a:off x="4756299" y="1129284"/>
            <a:ext cx="3936900" cy="33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33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34"/>
          <p:cNvSpPr txBox="1"/>
          <p:nvPr>
            <p:ph type="title"/>
          </p:nvPr>
        </p:nvSpPr>
        <p:spPr>
          <a:xfrm>
            <a:off x="306791" y="436070"/>
            <a:ext cx="83865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34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5"/>
          <p:cNvSpPr txBox="1"/>
          <p:nvPr>
            <p:ph type="title"/>
          </p:nvPr>
        </p:nvSpPr>
        <p:spPr>
          <a:xfrm>
            <a:off x="306791" y="544420"/>
            <a:ext cx="2763900" cy="740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35"/>
          <p:cNvSpPr txBox="1"/>
          <p:nvPr>
            <p:ph idx="1" type="body"/>
          </p:nvPr>
        </p:nvSpPr>
        <p:spPr>
          <a:xfrm>
            <a:off x="306791" y="1361638"/>
            <a:ext cx="2763900" cy="31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35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6"/>
          <p:cNvSpPr txBox="1"/>
          <p:nvPr>
            <p:ph type="title"/>
          </p:nvPr>
        </p:nvSpPr>
        <p:spPr>
          <a:xfrm>
            <a:off x="482530" y="441092"/>
            <a:ext cx="6267600" cy="400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36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37"/>
          <p:cNvSpPr/>
          <p:nvPr/>
        </p:nvSpPr>
        <p:spPr>
          <a:xfrm>
            <a:off x="4500000" y="-122"/>
            <a:ext cx="4500000" cy="504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37"/>
          <p:cNvSpPr txBox="1"/>
          <p:nvPr>
            <p:ph type="title"/>
          </p:nvPr>
        </p:nvSpPr>
        <p:spPr>
          <a:xfrm>
            <a:off x="261319" y="1208360"/>
            <a:ext cx="3981600" cy="14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37"/>
          <p:cNvSpPr txBox="1"/>
          <p:nvPr>
            <p:ph idx="1" type="subTitle"/>
          </p:nvPr>
        </p:nvSpPr>
        <p:spPr>
          <a:xfrm>
            <a:off x="261319" y="2746670"/>
            <a:ext cx="3981600" cy="12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37"/>
          <p:cNvSpPr txBox="1"/>
          <p:nvPr>
            <p:ph idx="2" type="body"/>
          </p:nvPr>
        </p:nvSpPr>
        <p:spPr>
          <a:xfrm>
            <a:off x="4861713" y="709505"/>
            <a:ext cx="3776700" cy="362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37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8"/>
          <p:cNvSpPr txBox="1"/>
          <p:nvPr>
            <p:ph idx="1" type="body"/>
          </p:nvPr>
        </p:nvSpPr>
        <p:spPr>
          <a:xfrm>
            <a:off x="306791" y="4145445"/>
            <a:ext cx="5904300" cy="59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38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9"/>
          <p:cNvSpPr txBox="1"/>
          <p:nvPr>
            <p:ph hasCustomPrompt="1" type="title"/>
          </p:nvPr>
        </p:nvSpPr>
        <p:spPr>
          <a:xfrm>
            <a:off x="306791" y="1083867"/>
            <a:ext cx="8386500" cy="192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39"/>
          <p:cNvSpPr txBox="1"/>
          <p:nvPr>
            <p:ph idx="1" type="body"/>
          </p:nvPr>
        </p:nvSpPr>
        <p:spPr>
          <a:xfrm>
            <a:off x="306791" y="3088794"/>
            <a:ext cx="8386500" cy="127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39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0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9"/>
          <p:cNvSpPr txBox="1"/>
          <p:nvPr>
            <p:ph type="title"/>
          </p:nvPr>
        </p:nvSpPr>
        <p:spPr>
          <a:xfrm>
            <a:off x="306791" y="436070"/>
            <a:ext cx="83865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9"/>
          <p:cNvSpPr txBox="1"/>
          <p:nvPr>
            <p:ph idx="1" type="body"/>
          </p:nvPr>
        </p:nvSpPr>
        <p:spPr>
          <a:xfrm>
            <a:off x="306791" y="1129284"/>
            <a:ext cx="8386500" cy="33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9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hyperlink" Target="https://25df293e85c63bb5b8.gradio.live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/>
          <p:nvPr/>
        </p:nvSpPr>
        <p:spPr>
          <a:xfrm>
            <a:off x="0" y="0"/>
            <a:ext cx="9000000" cy="5040000"/>
          </a:xfrm>
          <a:prstGeom prst="rect">
            <a:avLst/>
          </a:prstGeom>
          <a:solidFill>
            <a:srgbClr val="12319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"/>
          <p:cNvSpPr txBox="1"/>
          <p:nvPr/>
        </p:nvSpPr>
        <p:spPr>
          <a:xfrm>
            <a:off x="348858" y="3853497"/>
            <a:ext cx="7347300" cy="11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ru" sz="16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Ваганов А.А.</a:t>
            </a:r>
            <a:endParaRPr b="0" i="0" sz="16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0" i="0" lang="ru" sz="16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Валова Е.В.</a:t>
            </a:r>
            <a:endParaRPr b="0" i="0" sz="16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0" i="0" lang="ru" sz="16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Волык И.Я.</a:t>
            </a:r>
            <a:endParaRPr b="0" i="0" sz="16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6" name="Google Shape;5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29623" y="156412"/>
            <a:ext cx="847909" cy="415398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"/>
          <p:cNvSpPr txBox="1"/>
          <p:nvPr/>
        </p:nvSpPr>
        <p:spPr>
          <a:xfrm>
            <a:off x="337836" y="357677"/>
            <a:ext cx="7347300" cy="11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3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Проектный практикум 2025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00"/>
              <a:buFont typeface="Arial"/>
              <a:buNone/>
            </a:pPr>
            <a:r>
              <a:rPr b="1" i="0" lang="ru" sz="3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Кейс 2: оценка мобильного приложения</a:t>
            </a:r>
            <a:endParaRPr/>
          </a:p>
        </p:txBody>
      </p:sp>
      <p:pic>
        <p:nvPicPr>
          <p:cNvPr id="58" name="Google Shape;58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27305" y="793440"/>
            <a:ext cx="5270740" cy="914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5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ru" sz="2800" u="none" cap="none" strike="noStrike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Команда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64" name="Google Shape;64;p5"/>
          <p:cNvGraphicFramePr/>
          <p:nvPr/>
        </p:nvGraphicFramePr>
        <p:xfrm>
          <a:off x="368557" y="133994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{68922CF4-7657-4B3A-9E45-3B50D4FF3100}</a:tableStyleId>
              </a:tblPr>
              <a:tblGrid>
                <a:gridCol w="1609100"/>
                <a:gridCol w="6432700"/>
              </a:tblGrid>
              <a:tr h="68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400" u="none" cap="none" strike="noStrike"/>
                        <a:t>Студент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400" u="none" cap="none" strike="noStrike"/>
                        <a:t>Роль и задачи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68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ru" sz="1400" u="none" cap="none" strike="noStrike"/>
                        <a:t>Ваганов А.А.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/>
                        <a:t>Выполнение заданий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68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ru" sz="1400" u="none" cap="none" strike="noStrike"/>
                        <a:t>Валова Е.В.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/>
                        <a:t>Лидер команды. Распределение ролей и выполнение заданий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68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ru" sz="1400" u="none" cap="none" strike="noStrike"/>
                        <a:t>Волык И.Я.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ru"/>
                        <a:t>Выполнение заданий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pic>
        <p:nvPicPr>
          <p:cNvPr id="65" name="Google Shape;65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23113" y="2916238"/>
            <a:ext cx="1876425" cy="2124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9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ru" sz="2800" u="none" cap="none" strike="noStrike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Информация о данных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1" name="Google Shape;71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0746" y="3578323"/>
            <a:ext cx="1838325" cy="1381125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9"/>
          <p:cNvSpPr txBox="1"/>
          <p:nvPr/>
        </p:nvSpPr>
        <p:spPr>
          <a:xfrm>
            <a:off x="458800" y="847731"/>
            <a:ext cx="8247900" cy="36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ru" sz="150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Для исследования использовался набор данных, содержащий результаты опроса пользователей мобильного приложения для управления пенсионными накоплениями. Данные были собраны в апреле–мае 2025 года и содержат около 40 тысяч записей.</a:t>
            </a:r>
            <a:endParaRPr b="1" sz="150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ru" sz="150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Каждая запись включает информацию о пользователе (возрастная категория, пол, стаж использования приложения, доход) и его оценке удовлетворённости (CSAT) по 5-балльной шкале. Также фиксируются дата отправки опроса и дата ответа, что позволяет анализировать поведенческие паттерны.</a:t>
            </a:r>
            <a:endParaRPr b="1" sz="150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ru" sz="150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Основная целевая переменная — уровень удовлетворённости (csat_level), который является ключевым показателем для оценки качества приложения и выявления факторов, влияющих на пользовательский опыт. Данный набор позволяет провести сегментный анализ и проверить гипотезы о различиях в оценках между группами пользователей.</a:t>
            </a:r>
            <a:endParaRPr b="1" sz="150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ru" sz="2800" u="none" cap="none" strike="noStrike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Сформулированные гипотезы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8" name="Google Shape;78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81558" y="3068631"/>
            <a:ext cx="1619250" cy="197167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79" name="Google Shape;79;p2"/>
          <p:cNvGraphicFramePr/>
          <p:nvPr/>
        </p:nvGraphicFramePr>
        <p:xfrm>
          <a:off x="368557" y="92719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{68922CF4-7657-4B3A-9E45-3B50D4FF3100}</a:tableStyleId>
              </a:tblPr>
              <a:tblGrid>
                <a:gridCol w="926050"/>
                <a:gridCol w="7115750"/>
              </a:tblGrid>
              <a:tr h="10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45725" marB="45725" marR="91450" marL="91450"/>
                </a:tc>
              </a:tr>
              <a:tr h="68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ru"/>
                        <a:t>Гипотеза №1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/>
                        <a:t>"Распределения оценок мужчин и женщин отличаются” Подтвердилась.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68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ru"/>
                        <a:t>Гипотеза №2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/>
                        <a:t>"Распределения оценок возрастных групп 18–24 и 55–65 различаются. </a:t>
                      </a:r>
                      <a:r>
                        <a:rPr lang="ru"/>
                        <a:t>Подтвердилась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68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ru"/>
                        <a:t>Гипотеза №3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/>
                        <a:t>"Распределения оценок групп с высоким и низким доходом различаются. </a:t>
                      </a:r>
                      <a:r>
                        <a:rPr lang="ru"/>
                        <a:t>Подтвердилась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ru" sz="2800" u="none" cap="none" strike="noStrike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Визуализация для проверки гипотез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5" name="Google Shape;85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63756" y="635762"/>
            <a:ext cx="1828800" cy="415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46150" y="1108955"/>
            <a:ext cx="5704423" cy="3679694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3"/>
          <p:cNvSpPr txBox="1"/>
          <p:nvPr/>
        </p:nvSpPr>
        <p:spPr>
          <a:xfrm>
            <a:off x="368550" y="847725"/>
            <a:ext cx="1339800" cy="3816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st="19050">
              <a:srgbClr val="000000">
                <a:alpha val="0"/>
              </a:srgbClr>
            </a:outerShdw>
          </a:effectLst>
        </p:spPr>
        <p:txBody>
          <a:bodyPr anchorCtr="0" anchor="t" bIns="91425" lIns="91425" spcFirstLastPara="1" rIns="91425" wrap="square" tIns="91425">
            <a:normAutofit fontScale="55000"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b="1" lang="ru" sz="280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гипотеза 1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g3b2ee44776e_0_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63756" y="635762"/>
            <a:ext cx="1828800" cy="41529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g3b2ee44776e_0_17"/>
          <p:cNvSpPr txBox="1"/>
          <p:nvPr/>
        </p:nvSpPr>
        <p:spPr>
          <a:xfrm>
            <a:off x="336800" y="346075"/>
            <a:ext cx="1339800" cy="3816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st="19050">
              <a:srgbClr val="000000">
                <a:alpha val="0"/>
              </a:srgbClr>
            </a:outerShdw>
          </a:effectLst>
        </p:spPr>
        <p:txBody>
          <a:bodyPr anchorCtr="0" anchor="t" bIns="91425" lIns="91425" spcFirstLastPara="1" rIns="91425" wrap="square" tIns="91425">
            <a:normAutofit fontScale="55000"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b="1" lang="ru" sz="280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гипотеза 2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4" name="Google Shape;94;g3b2ee44776e_0_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735000"/>
            <a:ext cx="6438004" cy="415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g3b2ee44776e_0_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63756" y="635762"/>
            <a:ext cx="1828800" cy="415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g3b2ee44776e_0_25"/>
          <p:cNvSpPr txBox="1"/>
          <p:nvPr/>
        </p:nvSpPr>
        <p:spPr>
          <a:xfrm>
            <a:off x="336800" y="346075"/>
            <a:ext cx="1339800" cy="3816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st="19050">
              <a:srgbClr val="000000">
                <a:alpha val="0"/>
              </a:srgbClr>
            </a:outerShdw>
          </a:effectLst>
        </p:spPr>
        <p:txBody>
          <a:bodyPr anchorCtr="0" anchor="t" bIns="91425" lIns="91425" spcFirstLastPara="1" rIns="91425" wrap="square" tIns="91425">
            <a:normAutofit fontScale="55000"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b="1" lang="ru" sz="280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гипотеза 3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1" name="Google Shape;101;g3b2ee44776e_0_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687925"/>
            <a:ext cx="6819376" cy="419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b2f27df8c3_0_1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ru" sz="280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Выводы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7" name="Google Shape;107;g3b2f27df8c3_0_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0746" y="3578323"/>
            <a:ext cx="1838325" cy="1381125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g3b2f27df8c3_0_1"/>
          <p:cNvSpPr txBox="1"/>
          <p:nvPr/>
        </p:nvSpPr>
        <p:spPr>
          <a:xfrm>
            <a:off x="288575" y="769850"/>
            <a:ext cx="6816600" cy="403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" sz="1100">
                <a:solidFill>
                  <a:srgbClr val="123194"/>
                </a:solidFill>
              </a:rPr>
              <a:t>Рекомендации:</a:t>
            </a:r>
            <a:endParaRPr b="1" sz="1100">
              <a:solidFill>
                <a:srgbClr val="123194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23194"/>
              </a:buClr>
              <a:buSzPts val="1100"/>
              <a:buAutoNum type="arabicPeriod"/>
            </a:pPr>
            <a:r>
              <a:rPr b="1" lang="ru" sz="1100">
                <a:solidFill>
                  <a:srgbClr val="123194"/>
                </a:solidFill>
              </a:rPr>
              <a:t>Для молодой аудитории (18–24 года):</a:t>
            </a:r>
            <a:endParaRPr b="1" sz="1100">
              <a:solidFill>
                <a:srgbClr val="123194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  <a:buChar char="●"/>
            </a:pPr>
            <a:r>
              <a:rPr b="1" lang="ru" sz="1100">
                <a:solidFill>
                  <a:srgbClr val="123194"/>
                </a:solidFill>
              </a:rPr>
              <a:t>Вывод:</a:t>
            </a:r>
            <a:r>
              <a:rPr lang="ru" sz="1100">
                <a:solidFill>
                  <a:srgbClr val="123194"/>
                </a:solidFill>
              </a:rPr>
              <a:t> Уровень CSAT значимо ниже, чем у старшего поколения.</a:t>
            </a:r>
            <a:endParaRPr sz="1100">
              <a:solidFill>
                <a:srgbClr val="123194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  <a:buChar char="●"/>
            </a:pPr>
            <a:r>
              <a:rPr b="1" lang="ru" sz="1100">
                <a:solidFill>
                  <a:srgbClr val="123194"/>
                </a:solidFill>
              </a:rPr>
              <a:t>Действие:</a:t>
            </a:r>
            <a:r>
              <a:rPr lang="ru" sz="1100">
                <a:solidFill>
                  <a:srgbClr val="123194"/>
                </a:solidFill>
              </a:rPr>
              <a:t> Исследовать причины низкой вовлечённости через юзабилити-тесты и углублённые интервью с этой группой. Возможно, требуется упрощение интерфейса, геймификация или создание образовательного контента о важности пенсионных накоплений.</a:t>
            </a:r>
            <a:endParaRPr sz="1100">
              <a:solidFill>
                <a:srgbClr val="123194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  <a:buAutoNum type="arabicPeriod"/>
            </a:pPr>
            <a:r>
              <a:rPr b="1" lang="ru" sz="1100">
                <a:solidFill>
                  <a:srgbClr val="123194"/>
                </a:solidFill>
              </a:rPr>
              <a:t>Для пользователей с высоким доходом (&gt;100K руб.):</a:t>
            </a:r>
            <a:endParaRPr b="1" sz="1100">
              <a:solidFill>
                <a:srgbClr val="123194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  <a:buChar char="●"/>
            </a:pPr>
            <a:r>
              <a:rPr b="1" lang="ru" sz="1100">
                <a:solidFill>
                  <a:srgbClr val="123194"/>
                </a:solidFill>
              </a:rPr>
              <a:t>Вывод:</a:t>
            </a:r>
            <a:r>
              <a:rPr lang="ru" sz="1100">
                <a:solidFill>
                  <a:srgbClr val="123194"/>
                </a:solidFill>
              </a:rPr>
              <a:t> Пользователи с высокими доходами оценивают приложение строже.</a:t>
            </a:r>
            <a:endParaRPr sz="1100">
              <a:solidFill>
                <a:srgbClr val="123194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  <a:buChar char="●"/>
            </a:pPr>
            <a:r>
              <a:rPr b="1" lang="ru" sz="1100">
                <a:solidFill>
                  <a:srgbClr val="123194"/>
                </a:solidFill>
              </a:rPr>
              <a:t>Действие:</a:t>
            </a:r>
            <a:r>
              <a:rPr lang="ru" sz="1100">
                <a:solidFill>
                  <a:srgbClr val="123194"/>
                </a:solidFill>
              </a:rPr>
              <a:t> Проработать возможность внедрения премиум-функций (например, расширенная аналитика портфеля, персональный консультант, интеграция с другими финансовыми сервисами). Это повысит ценность приложения для требовательной аудитории.</a:t>
            </a:r>
            <a:endParaRPr sz="1100">
              <a:solidFill>
                <a:srgbClr val="123194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  <a:buAutoNum type="arabicPeriod"/>
            </a:pPr>
            <a:r>
              <a:rPr b="1" lang="ru" sz="1100">
                <a:solidFill>
                  <a:srgbClr val="123194"/>
                </a:solidFill>
              </a:rPr>
              <a:t>По работе с гендерной разницей:</a:t>
            </a:r>
            <a:endParaRPr b="1" sz="1100">
              <a:solidFill>
                <a:srgbClr val="123194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100"/>
              <a:buChar char="●"/>
            </a:pPr>
            <a:r>
              <a:rPr b="1" lang="ru" sz="1100">
                <a:solidFill>
                  <a:srgbClr val="123194"/>
                </a:solidFill>
              </a:rPr>
              <a:t>Вывод:</a:t>
            </a:r>
            <a:r>
              <a:rPr lang="ru" sz="1100">
                <a:solidFill>
                  <a:srgbClr val="123194"/>
                </a:solidFill>
              </a:rPr>
              <a:t> Разница в оценках между мужчинами и женщинами статистически значима, хотя и невелика.</a:t>
            </a:r>
            <a:endParaRPr sz="1100">
              <a:solidFill>
                <a:srgbClr val="123194"/>
              </a:solidFill>
            </a:endParaRPr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200"/>
              <a:buChar char="●"/>
            </a:pPr>
            <a:r>
              <a:rPr b="1" lang="ru" sz="1100">
                <a:solidFill>
                  <a:srgbClr val="123194"/>
                </a:solidFill>
              </a:rPr>
              <a:t>Действие:</a:t>
            </a:r>
            <a:r>
              <a:rPr lang="ru" sz="1100">
                <a:solidFill>
                  <a:srgbClr val="123194"/>
                </a:solidFill>
              </a:rPr>
              <a:t> Провести аудит интерфейса и контента на предмет возможной гендерной предвзятости. Убедиться, что визуальный ряд, язык коммуникации и примеры в приложении равно релевантны всем пользователям</a:t>
            </a:r>
            <a:r>
              <a:rPr lang="ru" sz="1200">
                <a:solidFill>
                  <a:srgbClr val="123194"/>
                </a:solidFill>
              </a:rPr>
              <a:t>.</a:t>
            </a:r>
            <a:endParaRPr sz="1200">
              <a:solidFill>
                <a:srgbClr val="123194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1" sz="150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b2f27df8c3_0_8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ru" sz="280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Следующие шаги: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4" name="Google Shape;114;g3b2f27df8c3_0_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0746" y="3578323"/>
            <a:ext cx="1838325" cy="1381125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g3b2f27df8c3_0_8"/>
          <p:cNvSpPr txBox="1"/>
          <p:nvPr/>
        </p:nvSpPr>
        <p:spPr>
          <a:xfrm>
            <a:off x="266450" y="784550"/>
            <a:ext cx="5654400" cy="402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1" marL="9144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23194"/>
              </a:buClr>
              <a:buSzPts val="1200"/>
              <a:buChar char="●"/>
            </a:pPr>
            <a:r>
              <a:rPr b="1" lang="ru" sz="1100">
                <a:solidFill>
                  <a:srgbClr val="123194"/>
                </a:solidFill>
              </a:rPr>
              <a:t>Приоритизация: Внедрить рекомендации, начиная с сегмента молодых пользователей, как наиболее проблемного.</a:t>
            </a:r>
            <a:endParaRPr b="1" sz="1100">
              <a:solidFill>
                <a:srgbClr val="123194"/>
              </a:solidFill>
            </a:endParaRPr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200"/>
              <a:buChar char="●"/>
            </a:pPr>
            <a:r>
              <a:t/>
            </a:r>
            <a:endParaRPr b="1" sz="1100">
              <a:solidFill>
                <a:srgbClr val="123194"/>
              </a:solidFill>
            </a:endParaRPr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200"/>
              <a:buChar char="●"/>
            </a:pPr>
            <a:r>
              <a:rPr b="1" lang="ru" sz="1100">
                <a:solidFill>
                  <a:srgbClr val="123194"/>
                </a:solidFill>
              </a:rPr>
              <a:t>Мониторинг: Включить ключевые показатели по выделенным сегментам (CSAT, retention rate) в регулярную отчётность для оценки эффективности изменений.</a:t>
            </a:r>
            <a:endParaRPr b="1" sz="1100">
              <a:solidFill>
                <a:srgbClr val="123194"/>
              </a:solidFill>
            </a:endParaRPr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200"/>
              <a:buChar char="●"/>
            </a:pPr>
            <a:r>
              <a:t/>
            </a:r>
            <a:endParaRPr b="1" sz="1100">
              <a:solidFill>
                <a:srgbClr val="123194"/>
              </a:solidFill>
            </a:endParaRPr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23194"/>
              </a:buClr>
              <a:buSzPts val="1200"/>
              <a:buChar char="●"/>
            </a:pPr>
            <a:r>
              <a:rPr b="1" lang="ru" sz="1100">
                <a:solidFill>
                  <a:srgbClr val="123194"/>
                </a:solidFill>
              </a:rPr>
              <a:t>Глубокий анализ: Провести качественное исследование (интервью, фокус-группы) для проверки выдвинутых гипотез о причинах низких оценок.</a:t>
            </a:r>
            <a:endParaRPr b="1" sz="1100">
              <a:solidFill>
                <a:srgbClr val="123194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1" sz="150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ru" sz="2800" u="none" cap="none" strike="noStrike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Дашборд в Gradio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1" name="Google Shape;121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9856" y="3220363"/>
            <a:ext cx="2038350" cy="1628775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4"/>
          <p:cNvSpPr txBox="1"/>
          <p:nvPr/>
        </p:nvSpPr>
        <p:spPr>
          <a:xfrm>
            <a:off x="368558" y="1255108"/>
            <a:ext cx="8167800" cy="3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ru" sz="3000" u="sng" cap="none" strike="noStrike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Ссылка на дашборд</a:t>
            </a:r>
            <a:endParaRPr b="0" i="0" sz="30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8"/>
          <p:cNvSpPr/>
          <p:nvPr/>
        </p:nvSpPr>
        <p:spPr>
          <a:xfrm>
            <a:off x="0" y="0"/>
            <a:ext cx="9000000" cy="5040000"/>
          </a:xfrm>
          <a:prstGeom prst="rect">
            <a:avLst/>
          </a:prstGeom>
          <a:solidFill>
            <a:srgbClr val="12319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8" name="Google Shape;128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488" y="4491378"/>
            <a:ext cx="847909" cy="415398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8"/>
          <p:cNvSpPr txBox="1"/>
          <p:nvPr/>
        </p:nvSpPr>
        <p:spPr>
          <a:xfrm>
            <a:off x="348864" y="633388"/>
            <a:ext cx="7347300" cy="11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5700"/>
              <a:buFont typeface="Arial"/>
              <a:buNone/>
            </a:pPr>
            <a:r>
              <a:rPr b="1" i="0" lang="ru" sz="4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Спасибо </a:t>
            </a:r>
            <a:br>
              <a:rPr b="1" i="0" lang="ru" sz="4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1" i="0" lang="ru" sz="4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за внимание!</a:t>
            </a:r>
            <a:endParaRPr b="1" i="0" sz="40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0" name="Google Shape;130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58314" y="956815"/>
            <a:ext cx="4438650" cy="413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