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9" r:id="rId14"/>
    <p:sldId id="270" r:id="rId15"/>
    <p:sldId id="267" r:id="rId16"/>
  </p:sldIdLst>
  <p:sldSz cx="8999538" cy="5040313"/>
  <p:notesSz cx="6858000" cy="9144000"/>
  <p:embeddedFontLst>
    <p:embeddedFont>
      <p:font typeface="Montserrat" pitchFamily="2" charset="0"/>
      <p:regular r:id="rId18"/>
      <p:bold r:id="rId19"/>
      <p:italic r:id="rId20"/>
      <p:boldItalic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289">
          <p15:clr>
            <a:srgbClr val="747775"/>
          </p15:clr>
        </p15:guide>
        <p15:guide id="2" orient="horz" pos="3028">
          <p15:clr>
            <a:srgbClr val="747775"/>
          </p15:clr>
        </p15:guide>
        <p15:guide id="3" orient="horz" pos="534">
          <p15:clr>
            <a:srgbClr val="747775"/>
          </p15:clr>
        </p15:guide>
        <p15:guide id="4" orient="horz" pos="843">
          <p15:clr>
            <a:srgbClr val="747775"/>
          </p15:clr>
        </p15:guide>
        <p15:guide id="5" orient="horz" pos="283">
          <p15:clr>
            <a:srgbClr val="747775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2" roundtripDataSignature="AMtx7mhJqYRpqAJC9fto5G3kjxjiBDBh3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8922CF4-7657-4B3A-9E45-3B50D4FF3100}">
  <a:tblStyle styleId="{68922CF4-7657-4B3A-9E45-3B50D4FF3100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DFD"/>
          </a:solidFill>
        </a:fill>
      </a:tcStyle>
    </a:wholeTbl>
    <a:band1H>
      <a:tcTxStyle/>
      <a:tcStyle>
        <a:tcBdr/>
        <a:fill>
          <a:solidFill>
            <a:srgbClr val="CDD8FB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8FB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746"/>
    <p:restoredTop sz="94720"/>
  </p:normalViewPr>
  <p:slideViewPr>
    <p:cSldViewPr snapToGrid="0">
      <p:cViewPr varScale="1">
        <p:scale>
          <a:sx n="292" d="100"/>
          <a:sy n="292" d="100"/>
        </p:scale>
        <p:origin x="960" y="176"/>
      </p:cViewPr>
      <p:guideLst>
        <p:guide pos="289"/>
        <p:guide orient="horz" pos="3028"/>
        <p:guide orient="horz" pos="534"/>
        <p:guide orient="horz" pos="843"/>
        <p:guide orient="horz" pos="28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customschemas.google.com/relationships/presentationmetadata" Target="meta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67712" y="685800"/>
            <a:ext cx="6123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68300" y="685800"/>
            <a:ext cx="6122988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2" name="Google Shape;52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68300" y="685800"/>
            <a:ext cx="6122988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68300" y="685800"/>
            <a:ext cx="6122988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8" name="Google Shape;68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68300" y="685800"/>
            <a:ext cx="6122988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5" name="Google Shape;75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68300" y="685800"/>
            <a:ext cx="6122988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b2ee44776e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68300" y="685800"/>
            <a:ext cx="6122988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0" name="Google Shape;90;g3b2ee44776e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b2ee44776e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68300" y="685800"/>
            <a:ext cx="6122988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7" name="Google Shape;97;g3b2ee44776e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b2f27df8c3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68300" y="685800"/>
            <a:ext cx="6122988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4" name="Google Shape;104;g3b2f27df8c3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b2f27df8c3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68300" y="685800"/>
            <a:ext cx="6122988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1" name="Google Shape;111;g3b2f27df8c3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68300" y="685800"/>
            <a:ext cx="6122988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8" name="Google Shape;118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68300" y="685800"/>
            <a:ext cx="6122988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5" name="Google Shape;125;p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0"/>
          <p:cNvSpPr txBox="1">
            <a:spLocks noGrp="1"/>
          </p:cNvSpPr>
          <p:nvPr>
            <p:ph type="ctrTitle"/>
          </p:nvPr>
        </p:nvSpPr>
        <p:spPr>
          <a:xfrm>
            <a:off x="306800" y="729592"/>
            <a:ext cx="8386500" cy="201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30"/>
          <p:cNvSpPr txBox="1">
            <a:spLocks noGrp="1"/>
          </p:cNvSpPr>
          <p:nvPr>
            <p:ph type="subTitle" idx="1"/>
          </p:nvPr>
        </p:nvSpPr>
        <p:spPr>
          <a:xfrm>
            <a:off x="306791" y="2777095"/>
            <a:ext cx="8386500" cy="77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30"/>
          <p:cNvSpPr txBox="1">
            <a:spLocks noGrp="1"/>
          </p:cNvSpPr>
          <p:nvPr>
            <p:ph type="sldNum" idx="12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1"/>
          <p:cNvSpPr txBox="1">
            <a:spLocks noGrp="1"/>
          </p:cNvSpPr>
          <p:nvPr>
            <p:ph type="title"/>
          </p:nvPr>
        </p:nvSpPr>
        <p:spPr>
          <a:xfrm>
            <a:off x="306791" y="2107570"/>
            <a:ext cx="8386500" cy="8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1"/>
          <p:cNvSpPr txBox="1">
            <a:spLocks noGrp="1"/>
          </p:cNvSpPr>
          <p:nvPr>
            <p:ph type="sldNum" idx="12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2"/>
          <p:cNvSpPr txBox="1">
            <a:spLocks noGrp="1"/>
          </p:cNvSpPr>
          <p:nvPr>
            <p:ph type="title"/>
          </p:nvPr>
        </p:nvSpPr>
        <p:spPr>
          <a:xfrm>
            <a:off x="306791" y="436070"/>
            <a:ext cx="8386500" cy="56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32"/>
          <p:cNvSpPr txBox="1">
            <a:spLocks noGrp="1"/>
          </p:cNvSpPr>
          <p:nvPr>
            <p:ph type="body" idx="1"/>
          </p:nvPr>
        </p:nvSpPr>
        <p:spPr>
          <a:xfrm>
            <a:off x="306791" y="1129284"/>
            <a:ext cx="8386500" cy="33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32"/>
          <p:cNvSpPr txBox="1">
            <a:spLocks noGrp="1"/>
          </p:cNvSpPr>
          <p:nvPr>
            <p:ph type="sldNum" idx="12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33"/>
          <p:cNvSpPr txBox="1">
            <a:spLocks noGrp="1"/>
          </p:cNvSpPr>
          <p:nvPr>
            <p:ph type="title"/>
          </p:nvPr>
        </p:nvSpPr>
        <p:spPr>
          <a:xfrm>
            <a:off x="306791" y="436070"/>
            <a:ext cx="8386500" cy="56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33"/>
          <p:cNvSpPr txBox="1">
            <a:spLocks noGrp="1"/>
          </p:cNvSpPr>
          <p:nvPr>
            <p:ph type="body" idx="1"/>
          </p:nvPr>
        </p:nvSpPr>
        <p:spPr>
          <a:xfrm>
            <a:off x="306791" y="1129284"/>
            <a:ext cx="3936900" cy="33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33"/>
          <p:cNvSpPr txBox="1">
            <a:spLocks noGrp="1"/>
          </p:cNvSpPr>
          <p:nvPr>
            <p:ph type="body" idx="2"/>
          </p:nvPr>
        </p:nvSpPr>
        <p:spPr>
          <a:xfrm>
            <a:off x="4756299" y="1129284"/>
            <a:ext cx="3936900" cy="33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33"/>
          <p:cNvSpPr txBox="1">
            <a:spLocks noGrp="1"/>
          </p:cNvSpPr>
          <p:nvPr>
            <p:ph type="sldNum" idx="12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34"/>
          <p:cNvSpPr txBox="1">
            <a:spLocks noGrp="1"/>
          </p:cNvSpPr>
          <p:nvPr>
            <p:ph type="title"/>
          </p:nvPr>
        </p:nvSpPr>
        <p:spPr>
          <a:xfrm>
            <a:off x="306791" y="436070"/>
            <a:ext cx="8386500" cy="56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34"/>
          <p:cNvSpPr txBox="1">
            <a:spLocks noGrp="1"/>
          </p:cNvSpPr>
          <p:nvPr>
            <p:ph type="sldNum" idx="12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35"/>
          <p:cNvSpPr txBox="1">
            <a:spLocks noGrp="1"/>
          </p:cNvSpPr>
          <p:nvPr>
            <p:ph type="title"/>
          </p:nvPr>
        </p:nvSpPr>
        <p:spPr>
          <a:xfrm>
            <a:off x="306791" y="544420"/>
            <a:ext cx="2763900" cy="74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35"/>
          <p:cNvSpPr txBox="1">
            <a:spLocks noGrp="1"/>
          </p:cNvSpPr>
          <p:nvPr>
            <p:ph type="body" idx="1"/>
          </p:nvPr>
        </p:nvSpPr>
        <p:spPr>
          <a:xfrm>
            <a:off x="306791" y="1361638"/>
            <a:ext cx="2763900" cy="31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35"/>
          <p:cNvSpPr txBox="1">
            <a:spLocks noGrp="1"/>
          </p:cNvSpPr>
          <p:nvPr>
            <p:ph type="sldNum" idx="12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36"/>
          <p:cNvSpPr txBox="1">
            <a:spLocks noGrp="1"/>
          </p:cNvSpPr>
          <p:nvPr>
            <p:ph type="title"/>
          </p:nvPr>
        </p:nvSpPr>
        <p:spPr>
          <a:xfrm>
            <a:off x="482530" y="441092"/>
            <a:ext cx="6267600" cy="400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36"/>
          <p:cNvSpPr txBox="1">
            <a:spLocks noGrp="1"/>
          </p:cNvSpPr>
          <p:nvPr>
            <p:ph type="sldNum" idx="12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37"/>
          <p:cNvSpPr/>
          <p:nvPr/>
        </p:nvSpPr>
        <p:spPr>
          <a:xfrm>
            <a:off x="4500000" y="-122"/>
            <a:ext cx="4500000" cy="504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37"/>
          <p:cNvSpPr txBox="1">
            <a:spLocks noGrp="1"/>
          </p:cNvSpPr>
          <p:nvPr>
            <p:ph type="title"/>
          </p:nvPr>
        </p:nvSpPr>
        <p:spPr>
          <a:xfrm>
            <a:off x="261319" y="1208360"/>
            <a:ext cx="3981600" cy="14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37"/>
          <p:cNvSpPr txBox="1">
            <a:spLocks noGrp="1"/>
          </p:cNvSpPr>
          <p:nvPr>
            <p:ph type="subTitle" idx="1"/>
          </p:nvPr>
        </p:nvSpPr>
        <p:spPr>
          <a:xfrm>
            <a:off x="261319" y="2746670"/>
            <a:ext cx="3981600" cy="12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37"/>
          <p:cNvSpPr txBox="1">
            <a:spLocks noGrp="1"/>
          </p:cNvSpPr>
          <p:nvPr>
            <p:ph type="body" idx="2"/>
          </p:nvPr>
        </p:nvSpPr>
        <p:spPr>
          <a:xfrm>
            <a:off x="4861713" y="709505"/>
            <a:ext cx="3776700" cy="362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37"/>
          <p:cNvSpPr txBox="1">
            <a:spLocks noGrp="1"/>
          </p:cNvSpPr>
          <p:nvPr>
            <p:ph type="sldNum" idx="12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38"/>
          <p:cNvSpPr txBox="1">
            <a:spLocks noGrp="1"/>
          </p:cNvSpPr>
          <p:nvPr>
            <p:ph type="body" idx="1"/>
          </p:nvPr>
        </p:nvSpPr>
        <p:spPr>
          <a:xfrm>
            <a:off x="306791" y="4145445"/>
            <a:ext cx="59043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38"/>
          <p:cNvSpPr txBox="1">
            <a:spLocks noGrp="1"/>
          </p:cNvSpPr>
          <p:nvPr>
            <p:ph type="sldNum" idx="12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39"/>
          <p:cNvSpPr txBox="1">
            <a:spLocks noGrp="1"/>
          </p:cNvSpPr>
          <p:nvPr>
            <p:ph type="title" hasCustomPrompt="1"/>
          </p:nvPr>
        </p:nvSpPr>
        <p:spPr>
          <a:xfrm>
            <a:off x="306791" y="1083867"/>
            <a:ext cx="8386500" cy="192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39"/>
          <p:cNvSpPr txBox="1">
            <a:spLocks noGrp="1"/>
          </p:cNvSpPr>
          <p:nvPr>
            <p:ph type="body" idx="1"/>
          </p:nvPr>
        </p:nvSpPr>
        <p:spPr>
          <a:xfrm>
            <a:off x="306791" y="3088794"/>
            <a:ext cx="8386500" cy="127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39"/>
          <p:cNvSpPr txBox="1">
            <a:spLocks noGrp="1"/>
          </p:cNvSpPr>
          <p:nvPr>
            <p:ph type="sldNum" idx="12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40"/>
          <p:cNvSpPr txBox="1">
            <a:spLocks noGrp="1"/>
          </p:cNvSpPr>
          <p:nvPr>
            <p:ph type="sldNum" idx="12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9"/>
          <p:cNvSpPr txBox="1">
            <a:spLocks noGrp="1"/>
          </p:cNvSpPr>
          <p:nvPr>
            <p:ph type="title"/>
          </p:nvPr>
        </p:nvSpPr>
        <p:spPr>
          <a:xfrm>
            <a:off x="306791" y="436070"/>
            <a:ext cx="8386500" cy="56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29"/>
          <p:cNvSpPr txBox="1">
            <a:spLocks noGrp="1"/>
          </p:cNvSpPr>
          <p:nvPr>
            <p:ph type="body" idx="1"/>
          </p:nvPr>
        </p:nvSpPr>
        <p:spPr>
          <a:xfrm>
            <a:off x="306791" y="1129284"/>
            <a:ext cx="8386500" cy="33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29"/>
          <p:cNvSpPr txBox="1">
            <a:spLocks noGrp="1"/>
          </p:cNvSpPr>
          <p:nvPr>
            <p:ph type="sldNum" idx="12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slide" Target="slide15.xml"/><Relationship Id="rId3" Type="http://schemas.openxmlformats.org/officeDocument/2006/relationships/image" Target="../media/image10.png"/><Relationship Id="rId7" Type="http://schemas.openxmlformats.org/officeDocument/2006/relationships/slide" Target="slide14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slide" Target="slide13.xml"/><Relationship Id="rId5" Type="http://schemas.openxmlformats.org/officeDocument/2006/relationships/slide" Target="slide12.xml"/><Relationship Id="rId4" Type="http://schemas.openxmlformats.org/officeDocument/2006/relationships/hyperlink" Target="https://25df293e85c63bb5b8.gradio.live/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"/>
          <p:cNvSpPr/>
          <p:nvPr/>
        </p:nvSpPr>
        <p:spPr>
          <a:xfrm>
            <a:off x="0" y="0"/>
            <a:ext cx="9000000" cy="5040000"/>
          </a:xfrm>
          <a:prstGeom prst="rect">
            <a:avLst/>
          </a:prstGeom>
          <a:solidFill>
            <a:srgbClr val="123194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1"/>
          <p:cNvSpPr txBox="1"/>
          <p:nvPr/>
        </p:nvSpPr>
        <p:spPr>
          <a:xfrm>
            <a:off x="348858" y="3853497"/>
            <a:ext cx="7347300" cy="114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" sz="16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Ваганов А.А.</a:t>
            </a:r>
            <a:endParaRPr sz="1600" b="0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" sz="16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Валова Е.В.</a:t>
            </a:r>
            <a:endParaRPr sz="1600" b="0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" sz="16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Волык И.Я.</a:t>
            </a:r>
            <a:endParaRPr sz="1600" b="0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6" name="Google Shape;56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29623" y="156412"/>
            <a:ext cx="847909" cy="415398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"/>
          <p:cNvSpPr txBox="1"/>
          <p:nvPr/>
        </p:nvSpPr>
        <p:spPr>
          <a:xfrm>
            <a:off x="337836" y="357677"/>
            <a:ext cx="7347300" cy="114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Проектный практикум 2025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00"/>
              <a:buFont typeface="Arial"/>
              <a:buNone/>
            </a:pPr>
            <a:r>
              <a:rPr lang="ru" sz="3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Кейс 2: оценка мобильного приложения</a:t>
            </a:r>
            <a:endParaRPr/>
          </a:p>
        </p:txBody>
      </p:sp>
      <p:pic>
        <p:nvPicPr>
          <p:cNvPr id="58" name="Google Shape;58;p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927305" y="793440"/>
            <a:ext cx="5270740" cy="9144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5"/>
          <p:cNvSpPr txBox="1"/>
          <p:nvPr/>
        </p:nvSpPr>
        <p:spPr>
          <a:xfrm>
            <a:off x="368558" y="285105"/>
            <a:ext cx="8247900" cy="7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ru" sz="2800" b="1" i="0" u="none" strike="noStrike" cap="none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Команда</a:t>
            </a:r>
            <a:endParaRPr sz="2800" b="1" i="0" u="none" strike="noStrike" cap="none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aphicFrame>
        <p:nvGraphicFramePr>
          <p:cNvPr id="64" name="Google Shape;64;p5"/>
          <p:cNvGraphicFramePr/>
          <p:nvPr>
            <p:extLst>
              <p:ext uri="{D42A27DB-BD31-4B8C-83A1-F6EECF244321}">
                <p14:modId xmlns:p14="http://schemas.microsoft.com/office/powerpoint/2010/main" val="3940468616"/>
              </p:ext>
            </p:extLst>
          </p:nvPr>
        </p:nvGraphicFramePr>
        <p:xfrm>
          <a:off x="368558" y="2442980"/>
          <a:ext cx="8041800" cy="1219240"/>
        </p:xfrm>
        <a:graphic>
          <a:graphicData uri="http://schemas.openxmlformats.org/drawingml/2006/table">
            <a:tbl>
              <a:tblPr firstRow="1" bandRow="1">
                <a:noFill/>
                <a:tableStyleId>{68922CF4-7657-4B3A-9E45-3B50D4FF3100}</a:tableStyleId>
              </a:tblPr>
              <a:tblGrid>
                <a:gridCol w="1609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32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400" u="none" strike="noStrike" cap="none" dirty="0"/>
                        <a:t>Студент</a:t>
                      </a:r>
                      <a:endParaRPr sz="1400" dirty="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400" u="none" strike="noStrike" cap="none"/>
                        <a:t>Роль и задачи</a:t>
                      </a:r>
                      <a:endParaRPr sz="140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4197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ru" sz="1400" u="none" strike="noStrike" cap="none" dirty="0"/>
                        <a:t>Ваганов А.А.</a:t>
                      </a:r>
                      <a:endParaRPr sz="1400" dirty="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400" dirty="0"/>
                        <a:t>Выполнение заданий</a:t>
                      </a:r>
                      <a:endParaRPr sz="1400" u="none" strike="noStrike" cap="none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6289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ru" sz="1400" u="none" strike="noStrike" cap="none"/>
                        <a:t>Валова Е.В.</a:t>
                      </a:r>
                      <a:endParaRPr sz="140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400" dirty="0"/>
                        <a:t>Лидер команды. Распределение ролей и выполнение заданий</a:t>
                      </a:r>
                      <a:endParaRPr sz="1400" u="none" strike="noStrike" cap="none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ru" sz="1400" u="none" strike="noStrike" cap="none"/>
                        <a:t>Волык И.Я.</a:t>
                      </a:r>
                      <a:endParaRPr sz="140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Font typeface="Arial"/>
                        <a:buNone/>
                      </a:pPr>
                      <a:r>
                        <a:rPr lang="ru" sz="1400" dirty="0"/>
                        <a:t>Выполнение заданий</a:t>
                      </a:r>
                      <a:endParaRPr sz="14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65" name="Google Shape;65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593874" y="3505200"/>
            <a:ext cx="1405664" cy="1535113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84503F1-3443-FB51-1675-9BF4D68EAB79}"/>
              </a:ext>
            </a:extLst>
          </p:cNvPr>
          <p:cNvSpPr txBox="1"/>
          <p:nvPr/>
        </p:nvSpPr>
        <p:spPr>
          <a:xfrm>
            <a:off x="368558" y="1390450"/>
            <a:ext cx="8041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ru" sz="1400" dirty="0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Задания распределялись между всеми участниками в равной мере на каждом</a:t>
            </a:r>
            <a:r>
              <a:rPr lang="en-US" sz="1400" dirty="0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ru-RU" sz="1400" dirty="0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этапе проекта</a:t>
            </a:r>
            <a:endParaRPr lang="ru" sz="1400" dirty="0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9"/>
          <p:cNvSpPr txBox="1"/>
          <p:nvPr/>
        </p:nvSpPr>
        <p:spPr>
          <a:xfrm>
            <a:off x="368558" y="285105"/>
            <a:ext cx="8247900" cy="7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ru" sz="2800" b="1" i="0" u="none" strike="noStrike" cap="none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Информация о данных</a:t>
            </a:r>
            <a:endParaRPr sz="2800" b="1" i="0" u="none" strike="noStrike" cap="none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1" name="Google Shape;71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50746" y="3578323"/>
            <a:ext cx="1838325" cy="1381125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9"/>
          <p:cNvSpPr txBox="1"/>
          <p:nvPr/>
        </p:nvSpPr>
        <p:spPr>
          <a:xfrm>
            <a:off x="458800" y="847731"/>
            <a:ext cx="8247900" cy="36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ru" sz="1500" dirty="0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Для исследования использовался набор данных, содержащий результаты опроса пользователей мобильного приложения для управления пенсионными накоплениями. Данные были собраны в апреле–мае 2025 года и содержат около 40 тысяч записей.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1500" dirty="0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ru" sz="1500" dirty="0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Каждая запись включает информацию о пользователе (возраст, пол, стаж использования приложения, доход) и его оценке удовлетворённости (CSAT) по 5-балльной шкале. Также фиксируются дата отправки опроса и дата ответа.</a:t>
            </a:r>
            <a:endParaRPr sz="1500" dirty="0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lang="ru" sz="1500" dirty="0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ru" sz="1500" dirty="0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Основная целевая переменная — уровень удовлетворённости, который является ключевым показателем для оценки качества приложения и выявления факторов, влияющих на пользовательский опыт.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lang="ru" sz="1500" dirty="0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"/>
          <p:cNvSpPr txBox="1"/>
          <p:nvPr/>
        </p:nvSpPr>
        <p:spPr>
          <a:xfrm>
            <a:off x="368558" y="285105"/>
            <a:ext cx="8247900" cy="7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ru" sz="2800" b="1" i="0" u="none" strike="noStrike" cap="none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Сформулированные гипотезы</a:t>
            </a:r>
            <a:endParaRPr sz="2800" b="1" i="0" u="none" strike="noStrike" cap="none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aphicFrame>
        <p:nvGraphicFramePr>
          <p:cNvPr id="79" name="Google Shape;79;p2"/>
          <p:cNvGraphicFramePr/>
          <p:nvPr>
            <p:extLst>
              <p:ext uri="{D42A27DB-BD31-4B8C-83A1-F6EECF244321}">
                <p14:modId xmlns:p14="http://schemas.microsoft.com/office/powerpoint/2010/main" val="3494212642"/>
              </p:ext>
            </p:extLst>
          </p:nvPr>
        </p:nvGraphicFramePr>
        <p:xfrm>
          <a:off x="471608" y="1697176"/>
          <a:ext cx="8041799" cy="1645960"/>
        </p:xfrm>
        <a:graphic>
          <a:graphicData uri="http://schemas.openxmlformats.org/drawingml/2006/table">
            <a:tbl>
              <a:tblPr firstRow="1" bandRow="1">
                <a:noFill/>
                <a:tableStyleId>{68922CF4-7657-4B3A-9E45-3B50D4FF3100}</a:tableStyleId>
              </a:tblPr>
              <a:tblGrid>
                <a:gridCol w="4913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235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26973">
                  <a:extLst>
                    <a:ext uri="{9D8B030D-6E8A-4147-A177-3AD203B41FA5}">
                      <a16:colId xmlns:a16="http://schemas.microsoft.com/office/drawing/2014/main" val="62417117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dirty="0"/>
                        <a:t>№</a:t>
                      </a:r>
                      <a:endParaRPr dirty="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dirty="0"/>
                        <a:t>Гипотеза</a:t>
                      </a:r>
                      <a:endParaRPr dirty="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dirty="0"/>
                        <a:t>Итог</a:t>
                      </a:r>
                      <a:endParaRPr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93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ru" dirty="0"/>
                        <a:t>1</a:t>
                      </a:r>
                      <a:endParaRPr dirty="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dirty="0"/>
                        <a:t>Распределения оценок мужчин и женщин отличаются</a:t>
                      </a:r>
                      <a:endParaRPr sz="1400" u="none" strike="noStrike" cap="none" dirty="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dirty="0"/>
                        <a:t>Подтвердилась</a:t>
                      </a:r>
                      <a:endParaRPr sz="1400" u="none" strike="noStrike" cap="none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5051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ru" dirty="0"/>
                        <a:t>2</a:t>
                      </a:r>
                      <a:endParaRPr dirty="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dirty="0"/>
                        <a:t>Распределения оценок возрастных групп 18–24 и 55–65 различаются</a:t>
                      </a:r>
                      <a:endParaRPr sz="1400" u="none" strike="noStrike" cap="none" dirty="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dirty="0"/>
                        <a:t>Подтвердилась</a:t>
                      </a:r>
                      <a:endParaRPr lang="ru-RU" sz="1400" u="none" strike="noStrike" cap="none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u="none" strike="noStrike" cap="none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954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ru" dirty="0"/>
                        <a:t>3</a:t>
                      </a:r>
                      <a:endParaRPr dirty="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dirty="0"/>
                        <a:t>Распределения оценок групп с высоким и низким доходом различаются</a:t>
                      </a:r>
                      <a:endParaRPr dirty="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dirty="0"/>
                        <a:t>Подтвердилась</a:t>
                      </a:r>
                      <a:endParaRPr lang="ru-RU" sz="1400" u="none" strike="noStrike" cap="none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78" name="Google Shape;78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98975" y="3068638"/>
            <a:ext cx="1619250" cy="1971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3"/>
          <p:cNvSpPr txBox="1"/>
          <p:nvPr/>
        </p:nvSpPr>
        <p:spPr>
          <a:xfrm>
            <a:off x="368558" y="285105"/>
            <a:ext cx="8247900" cy="7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ru" sz="2800" b="1" i="0" u="none" strike="noStrike" cap="none" dirty="0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Визуализация Гипотезы 1</a:t>
            </a:r>
            <a:endParaRPr sz="2800" b="1" i="0" u="none" strike="noStrike" cap="none" dirty="0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85" name="Google Shape;85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863756" y="635762"/>
            <a:ext cx="1828800" cy="415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3"/>
          <p:cNvPicPr preferRelativeResize="0"/>
          <p:nvPr/>
        </p:nvPicPr>
        <p:blipFill>
          <a:blip r:embed="rId4">
            <a:alphaModFix/>
          </a:blip>
          <a:srcRect t="5878"/>
          <a:stretch/>
        </p:blipFill>
        <p:spPr>
          <a:xfrm>
            <a:off x="369332" y="1103449"/>
            <a:ext cx="6332696" cy="3844847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3"/>
          <p:cNvSpPr txBox="1"/>
          <p:nvPr/>
        </p:nvSpPr>
        <p:spPr>
          <a:xfrm>
            <a:off x="368550" y="847725"/>
            <a:ext cx="3167130" cy="381600"/>
          </a:xfrm>
          <a:prstGeom prst="rect">
            <a:avLst/>
          </a:prstGeom>
          <a:noFill/>
          <a:ln>
            <a:noFill/>
          </a:ln>
          <a:effectLst>
            <a:outerShdw blurRad="57150" dist="19050" algn="bl" rotWithShape="0">
              <a:srgbClr val="000000">
                <a:alpha val="0"/>
              </a:srgbClr>
            </a:outerShdw>
          </a:effectLst>
        </p:spPr>
        <p:txBody>
          <a:bodyPr spcFirstLastPara="1" wrap="square" lIns="91425" tIns="91425" rIns="91425" bIns="91425" anchor="t" anchorCtr="0">
            <a:normAutofit fontScale="25000" lnSpcReduction="20000"/>
          </a:bodyPr>
          <a:lstStyle/>
          <a:p>
            <a:pPr>
              <a:buSzPct val="100000"/>
            </a:pPr>
            <a:r>
              <a:rPr lang="ru-RU" sz="2800" b="1" dirty="0">
                <a:solidFill>
                  <a:srgbClr val="123194"/>
                </a:solidFill>
                <a:latin typeface="Montserrat"/>
              </a:rPr>
              <a:t>Распределения оценок мужчин и женщин отличаются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endParaRPr lang="ru-RU" sz="2800" b="1" i="0" u="none" strike="noStrike" cap="none" dirty="0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84;p3">
            <a:extLst>
              <a:ext uri="{FF2B5EF4-FFF2-40B4-BE49-F238E27FC236}">
                <a16:creationId xmlns:a16="http://schemas.microsoft.com/office/drawing/2014/main" id="{BD57F03F-EFB1-BD1A-9D65-176CE1CF2181}"/>
              </a:ext>
            </a:extLst>
          </p:cNvPr>
          <p:cNvSpPr txBox="1"/>
          <p:nvPr/>
        </p:nvSpPr>
        <p:spPr>
          <a:xfrm>
            <a:off x="368558" y="285105"/>
            <a:ext cx="8247900" cy="7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ru" sz="2800" b="1" i="0" u="none" strike="noStrike" cap="none" dirty="0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Визуализация Гипотезы 2</a:t>
            </a:r>
            <a:endParaRPr sz="2800" b="1" i="0" u="none" strike="noStrike" cap="none" dirty="0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92" name="Google Shape;92;g3b2ee44776e_0_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863756" y="635762"/>
            <a:ext cx="1828800" cy="415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g3b2ee44776e_0_17"/>
          <p:cNvPicPr preferRelativeResize="0"/>
          <p:nvPr/>
        </p:nvPicPr>
        <p:blipFill>
          <a:blip r:embed="rId4">
            <a:alphaModFix/>
          </a:blip>
          <a:srcRect t="6417"/>
          <a:stretch/>
        </p:blipFill>
        <p:spPr>
          <a:xfrm>
            <a:off x="292460" y="1055805"/>
            <a:ext cx="6438004" cy="388641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87;p3">
            <a:extLst>
              <a:ext uri="{FF2B5EF4-FFF2-40B4-BE49-F238E27FC236}">
                <a16:creationId xmlns:a16="http://schemas.microsoft.com/office/drawing/2014/main" id="{5A62630C-1D91-F0B8-492E-00683CDB5F24}"/>
              </a:ext>
            </a:extLst>
          </p:cNvPr>
          <p:cNvSpPr txBox="1"/>
          <p:nvPr/>
        </p:nvSpPr>
        <p:spPr>
          <a:xfrm>
            <a:off x="368549" y="847725"/>
            <a:ext cx="4834821" cy="381600"/>
          </a:xfrm>
          <a:prstGeom prst="rect">
            <a:avLst/>
          </a:prstGeom>
          <a:noFill/>
          <a:ln>
            <a:noFill/>
          </a:ln>
          <a:effectLst>
            <a:outerShdw blurRad="57150" dist="19050" algn="bl" rotWithShape="0">
              <a:srgbClr val="000000">
                <a:alpha val="0"/>
              </a:srgbClr>
            </a:outerShdw>
          </a:effectLst>
        </p:spPr>
        <p:txBody>
          <a:bodyPr spcFirstLastPara="1" wrap="square" lIns="91425" tIns="91425" rIns="91425" bIns="91425" anchor="t" anchorCtr="0">
            <a:normAutofit fontScale="32500" lnSpcReduction="20000"/>
          </a:bodyPr>
          <a:lstStyle/>
          <a:p>
            <a:pPr>
              <a:buSzPct val="100000"/>
            </a:pPr>
            <a:r>
              <a:rPr lang="ru-RU" sz="2800" b="1" dirty="0">
                <a:solidFill>
                  <a:srgbClr val="123194"/>
                </a:solidFill>
                <a:latin typeface="Montserrat"/>
              </a:rPr>
              <a:t>Распределения оценок возрастных групп 18–24 и 55–65 различаются</a:t>
            </a:r>
          </a:p>
          <a:p>
            <a:pPr>
              <a:buSzPct val="100000"/>
            </a:pPr>
            <a:endParaRPr lang="ru-RU" sz="2800" b="1" dirty="0">
              <a:solidFill>
                <a:srgbClr val="123194"/>
              </a:solidFill>
              <a:latin typeface="Montserra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endParaRPr lang="ru-RU" sz="2800" b="1" i="0" u="none" strike="noStrike" cap="none" dirty="0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g3b2ee44776e_0_25"/>
          <p:cNvPicPr preferRelativeResize="0"/>
          <p:nvPr/>
        </p:nvPicPr>
        <p:blipFill>
          <a:blip r:embed="rId3">
            <a:alphaModFix/>
          </a:blip>
          <a:srcRect t="8917"/>
          <a:stretch/>
        </p:blipFill>
        <p:spPr>
          <a:xfrm>
            <a:off x="368549" y="1105987"/>
            <a:ext cx="6819376" cy="3825455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g3b2ee44776e_0_2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863756" y="635762"/>
            <a:ext cx="1828800" cy="41529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84;p3">
            <a:extLst>
              <a:ext uri="{FF2B5EF4-FFF2-40B4-BE49-F238E27FC236}">
                <a16:creationId xmlns:a16="http://schemas.microsoft.com/office/drawing/2014/main" id="{C375939C-F8FB-074C-C268-F85C6B7ACC95}"/>
              </a:ext>
            </a:extLst>
          </p:cNvPr>
          <p:cNvSpPr txBox="1"/>
          <p:nvPr/>
        </p:nvSpPr>
        <p:spPr>
          <a:xfrm>
            <a:off x="368558" y="285105"/>
            <a:ext cx="8247900" cy="7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ru" sz="2800" b="1" i="0" u="none" strike="noStrike" cap="none" dirty="0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Визуализация Гипотезы 3</a:t>
            </a:r>
            <a:endParaRPr sz="2800" b="1" i="0" u="none" strike="noStrike" cap="none" dirty="0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" name="Google Shape;87;p3">
            <a:extLst>
              <a:ext uri="{FF2B5EF4-FFF2-40B4-BE49-F238E27FC236}">
                <a16:creationId xmlns:a16="http://schemas.microsoft.com/office/drawing/2014/main" id="{7DB05BEF-28D9-D501-2FE9-A9FF97A85EEC}"/>
              </a:ext>
            </a:extLst>
          </p:cNvPr>
          <p:cNvSpPr txBox="1"/>
          <p:nvPr/>
        </p:nvSpPr>
        <p:spPr>
          <a:xfrm>
            <a:off x="368549" y="847725"/>
            <a:ext cx="4364559" cy="381600"/>
          </a:xfrm>
          <a:prstGeom prst="rect">
            <a:avLst/>
          </a:prstGeom>
          <a:noFill/>
          <a:ln>
            <a:noFill/>
          </a:ln>
          <a:effectLst>
            <a:outerShdw blurRad="57150" dist="19050" algn="bl" rotWithShape="0">
              <a:srgbClr val="000000">
                <a:alpha val="0"/>
              </a:srgbClr>
            </a:outerShdw>
          </a:effectLst>
        </p:spPr>
        <p:txBody>
          <a:bodyPr spcFirstLastPara="1" wrap="square" lIns="91425" tIns="91425" rIns="91425" bIns="91425" anchor="t" anchorCtr="0">
            <a:normAutofit fontScale="25000" lnSpcReduction="20000"/>
          </a:bodyPr>
          <a:lstStyle/>
          <a:p>
            <a:pPr>
              <a:buSzPct val="100000"/>
            </a:pPr>
            <a:r>
              <a:rPr lang="ru-RU" sz="2800" b="1" dirty="0">
                <a:solidFill>
                  <a:srgbClr val="123194"/>
                </a:solidFill>
                <a:latin typeface="Montserrat"/>
              </a:rPr>
              <a:t>Распределения оценок групп с высоким и низким доходом различаются</a:t>
            </a:r>
          </a:p>
          <a:p>
            <a:pPr>
              <a:buSzPct val="100000"/>
            </a:pPr>
            <a:endParaRPr lang="ru-RU" sz="2800" b="1" dirty="0">
              <a:solidFill>
                <a:srgbClr val="123194"/>
              </a:solidFill>
              <a:latin typeface="Montserra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endParaRPr lang="ru-RU" sz="2800" b="1" i="0" u="none" strike="noStrike" cap="none" dirty="0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b2f27df8c3_0_1"/>
          <p:cNvSpPr txBox="1"/>
          <p:nvPr/>
        </p:nvSpPr>
        <p:spPr>
          <a:xfrm>
            <a:off x="368558" y="285105"/>
            <a:ext cx="8247900" cy="7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ru" sz="2800" b="1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Выводы</a:t>
            </a:r>
            <a:endParaRPr sz="2800" b="1" i="0" u="none" strike="noStrike" cap="none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7" name="Google Shape;107;g3b2f27df8c3_0_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50746" y="3578323"/>
            <a:ext cx="1838325" cy="1381125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g3b2f27df8c3_0_1"/>
          <p:cNvSpPr txBox="1"/>
          <p:nvPr/>
        </p:nvSpPr>
        <p:spPr>
          <a:xfrm>
            <a:off x="288575" y="769850"/>
            <a:ext cx="6816600" cy="40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23194"/>
              </a:buClr>
              <a:buSzPts val="1100"/>
              <a:buAutoNum type="arabicPeriod"/>
            </a:pPr>
            <a:r>
              <a:rPr lang="ru" sz="1100" b="1" dirty="0">
                <a:solidFill>
                  <a:srgbClr val="123194"/>
                </a:solidFill>
              </a:rPr>
              <a:t>Молодая аудитория (18–24 года):</a:t>
            </a:r>
            <a:endParaRPr sz="1100" b="1" dirty="0">
              <a:solidFill>
                <a:srgbClr val="123194"/>
              </a:solidFill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23194"/>
              </a:buClr>
              <a:buSzPts val="1100"/>
              <a:buChar char="●"/>
            </a:pPr>
            <a:r>
              <a:rPr lang="ru" sz="1100" dirty="0">
                <a:solidFill>
                  <a:srgbClr val="123194"/>
                </a:solidFill>
              </a:rPr>
              <a:t>Уровень CSAT значимо ниже, чем у старшего поколения.</a:t>
            </a:r>
            <a:endParaRPr sz="1100" dirty="0">
              <a:solidFill>
                <a:srgbClr val="123194"/>
              </a:solidFill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23194"/>
              </a:buClr>
              <a:buSzPts val="1100"/>
              <a:buChar char="●"/>
            </a:pPr>
            <a:r>
              <a:rPr lang="ru" sz="1100" dirty="0">
                <a:solidFill>
                  <a:srgbClr val="123194"/>
                </a:solidFill>
              </a:rPr>
              <a:t>Исследовать причины низкой вовлечённости через юзабилити-тесты и углублённые интервью с этой группой. Возможно, требуется упрощение интерфейса, геймификация или создание образовательного контента о важности пенсионных накоплений.</a:t>
            </a:r>
          </a:p>
          <a:p>
            <a:pPr marL="615950" lvl="1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23194"/>
              </a:buClr>
              <a:buSzPts val="1100"/>
            </a:pPr>
            <a:endParaRPr sz="1100" dirty="0">
              <a:solidFill>
                <a:srgbClr val="123194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23194"/>
              </a:buClr>
              <a:buSzPts val="1100"/>
              <a:buAutoNum type="arabicPeriod"/>
            </a:pPr>
            <a:r>
              <a:rPr lang="ru" sz="1100" b="1" dirty="0">
                <a:solidFill>
                  <a:srgbClr val="123194"/>
                </a:solidFill>
              </a:rPr>
              <a:t>Пользователи с высоким доходом (&gt;100K руб.):</a:t>
            </a:r>
            <a:endParaRPr sz="1100" b="1" dirty="0">
              <a:solidFill>
                <a:srgbClr val="123194"/>
              </a:solidFill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23194"/>
              </a:buClr>
              <a:buSzPts val="1100"/>
              <a:buChar char="●"/>
            </a:pPr>
            <a:r>
              <a:rPr lang="ru" sz="1100" dirty="0">
                <a:solidFill>
                  <a:srgbClr val="123194"/>
                </a:solidFill>
              </a:rPr>
              <a:t>Оценивают приложение строже.</a:t>
            </a:r>
            <a:endParaRPr sz="1100" dirty="0">
              <a:solidFill>
                <a:srgbClr val="123194"/>
              </a:solidFill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23194"/>
              </a:buClr>
              <a:buSzPts val="1100"/>
              <a:buChar char="●"/>
            </a:pPr>
            <a:r>
              <a:rPr lang="ru" sz="1100" dirty="0">
                <a:solidFill>
                  <a:srgbClr val="123194"/>
                </a:solidFill>
              </a:rPr>
              <a:t>Проработать возможность внедрения премиум-функций (например, расширенная аналитика портфеля, персональный консультант, интеграция с другими финансовыми сервисами). Это повысит ценность приложения для требовательной аудитории.</a:t>
            </a: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23194"/>
              </a:buClr>
              <a:buSzPts val="1100"/>
              <a:buChar char="●"/>
            </a:pPr>
            <a:endParaRPr sz="1100" dirty="0">
              <a:solidFill>
                <a:srgbClr val="123194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23194"/>
              </a:buClr>
              <a:buSzPts val="1100"/>
              <a:buAutoNum type="arabicPeriod"/>
            </a:pPr>
            <a:r>
              <a:rPr lang="ru" sz="1100" b="1" dirty="0">
                <a:solidFill>
                  <a:srgbClr val="123194"/>
                </a:solidFill>
              </a:rPr>
              <a:t>Гендерная разница:</a:t>
            </a:r>
            <a:endParaRPr sz="1100" b="1" dirty="0">
              <a:solidFill>
                <a:srgbClr val="123194"/>
              </a:solidFill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23194"/>
              </a:buClr>
              <a:buSzPts val="1100"/>
              <a:buChar char="●"/>
            </a:pPr>
            <a:r>
              <a:rPr lang="ru" sz="1100" dirty="0">
                <a:solidFill>
                  <a:srgbClr val="123194"/>
                </a:solidFill>
              </a:rPr>
              <a:t>Разница в оценках между мужчинами и женщинами статистически значима, хотя и невелика.</a:t>
            </a:r>
            <a:endParaRPr sz="1100" dirty="0">
              <a:solidFill>
                <a:srgbClr val="123194"/>
              </a:solidFill>
            </a:endParaRPr>
          </a:p>
          <a:p>
            <a:pPr marL="91440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23194"/>
              </a:buClr>
              <a:buSzPts val="1200"/>
              <a:buChar char="●"/>
            </a:pPr>
            <a:r>
              <a:rPr lang="ru" sz="1100" dirty="0">
                <a:solidFill>
                  <a:srgbClr val="123194"/>
                </a:solidFill>
              </a:rPr>
              <a:t>Провести аудит интерфейса и контента на предмет возможной гендерной предвзятости. Убедиться, что визуальный ряд, язык коммуникации и примеры в приложении равно релевантны всем пользователям</a:t>
            </a:r>
            <a:r>
              <a:rPr lang="ru" sz="1200" dirty="0">
                <a:solidFill>
                  <a:srgbClr val="123194"/>
                </a:solidFill>
              </a:rPr>
              <a:t>.</a:t>
            </a:r>
            <a:endParaRPr sz="1200" dirty="0">
              <a:solidFill>
                <a:srgbClr val="123194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1500" b="1" dirty="0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b2f27df8c3_0_8"/>
          <p:cNvSpPr txBox="1"/>
          <p:nvPr/>
        </p:nvSpPr>
        <p:spPr>
          <a:xfrm>
            <a:off x="368558" y="285105"/>
            <a:ext cx="8247900" cy="7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ru" sz="2800" b="1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Следующие шаги:</a:t>
            </a:r>
            <a:endParaRPr sz="2800" b="1" i="0" u="none" strike="noStrike" cap="none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14" name="Google Shape;114;g3b2f27df8c3_0_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50746" y="3578323"/>
            <a:ext cx="1838325" cy="1381125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g3b2f27df8c3_0_8"/>
          <p:cNvSpPr txBox="1"/>
          <p:nvPr/>
        </p:nvSpPr>
        <p:spPr>
          <a:xfrm>
            <a:off x="266450" y="784550"/>
            <a:ext cx="8019756" cy="40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048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23194"/>
              </a:buClr>
              <a:buSzPts val="1200"/>
              <a:buChar char="●"/>
            </a:pPr>
            <a:r>
              <a:rPr lang="ru" sz="1600" dirty="0">
                <a:solidFill>
                  <a:srgbClr val="123194"/>
                </a:solidFill>
              </a:rPr>
              <a:t>Внедрить рекомендации, начиная с сегмента молодых пользователей, как наиболее проблемного.</a:t>
            </a:r>
            <a:endParaRPr sz="1600" dirty="0">
              <a:solidFill>
                <a:srgbClr val="123194"/>
              </a:solidFill>
            </a:endParaRPr>
          </a:p>
          <a:p>
            <a:pPr marL="91440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23194"/>
              </a:buClr>
              <a:buSzPts val="1200"/>
              <a:buChar char="●"/>
            </a:pPr>
            <a:endParaRPr sz="1600" dirty="0">
              <a:solidFill>
                <a:srgbClr val="123194"/>
              </a:solidFill>
            </a:endParaRPr>
          </a:p>
          <a:p>
            <a:pPr marL="91440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23194"/>
              </a:buClr>
              <a:buSzPts val="1200"/>
              <a:buChar char="●"/>
            </a:pPr>
            <a:r>
              <a:rPr lang="ru" sz="1600" dirty="0">
                <a:solidFill>
                  <a:srgbClr val="123194"/>
                </a:solidFill>
              </a:rPr>
              <a:t>Включить ключевые показатели по выделенным сегментам (CSAT, retention rate) в регулярную отчётность для оценки эффективности изменений.</a:t>
            </a:r>
            <a:endParaRPr sz="1600" dirty="0">
              <a:solidFill>
                <a:srgbClr val="123194"/>
              </a:solidFill>
            </a:endParaRPr>
          </a:p>
          <a:p>
            <a:pPr marL="91440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23194"/>
              </a:buClr>
              <a:buSzPts val="1200"/>
              <a:buChar char="●"/>
            </a:pPr>
            <a:endParaRPr sz="1600" dirty="0">
              <a:solidFill>
                <a:srgbClr val="123194"/>
              </a:solidFill>
            </a:endParaRPr>
          </a:p>
          <a:p>
            <a:pPr marL="91440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23194"/>
              </a:buClr>
              <a:buSzPts val="1200"/>
              <a:buChar char="●"/>
            </a:pPr>
            <a:r>
              <a:rPr lang="ru" sz="1600" dirty="0">
                <a:solidFill>
                  <a:srgbClr val="123194"/>
                </a:solidFill>
              </a:rPr>
              <a:t>Провести качественное исследование (интервью, фокус-группы) для проверки выдвинутых гипотез о причинах низких оценок.</a:t>
            </a:r>
            <a:endParaRPr sz="1600" dirty="0">
              <a:solidFill>
                <a:srgbClr val="123194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2000" b="1" dirty="0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4"/>
          <p:cNvSpPr txBox="1"/>
          <p:nvPr/>
        </p:nvSpPr>
        <p:spPr>
          <a:xfrm>
            <a:off x="368558" y="285105"/>
            <a:ext cx="8247900" cy="7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ru" sz="2800" b="1" i="0" u="none" strike="noStrike" cap="none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Дашборд в Gradio</a:t>
            </a:r>
            <a:endParaRPr sz="2800" b="1" i="0" u="none" strike="noStrike" cap="none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21" name="Google Shape;121;p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59856" y="3220363"/>
            <a:ext cx="2038350" cy="1628775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4"/>
          <p:cNvSpPr txBox="1"/>
          <p:nvPr/>
        </p:nvSpPr>
        <p:spPr>
          <a:xfrm>
            <a:off x="368558" y="1255108"/>
            <a:ext cx="8167800" cy="7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ru" sz="3000" b="0" i="0" u="sng" strike="noStrike" cap="none" dirty="0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Ссылка на дашборд</a:t>
            </a:r>
            <a:endParaRPr lang="ru" sz="3000" b="0" i="0" u="sng" strike="noStrike" cap="none" dirty="0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endParaRPr lang="ru" sz="3000" u="sng" dirty="0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" name="Google Shape;115;g3b2f27df8c3_0_8">
            <a:extLst>
              <a:ext uri="{FF2B5EF4-FFF2-40B4-BE49-F238E27FC236}">
                <a16:creationId xmlns:a16="http://schemas.microsoft.com/office/drawing/2014/main" id="{83AF368E-9343-63E8-D42B-81FDE7DC7382}"/>
              </a:ext>
            </a:extLst>
          </p:cNvPr>
          <p:cNvSpPr txBox="1"/>
          <p:nvPr/>
        </p:nvSpPr>
        <p:spPr>
          <a:xfrm>
            <a:off x="-243001" y="2187657"/>
            <a:ext cx="8019756" cy="87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609600" lvl="1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23194"/>
              </a:buClr>
              <a:buSzPts val="1200"/>
            </a:pPr>
            <a:r>
              <a:rPr lang="ru-RU" sz="1200" dirty="0">
                <a:solidFill>
                  <a:srgbClr val="123194"/>
                </a:solidFill>
              </a:rPr>
              <a:t>Скрины </a:t>
            </a:r>
            <a:r>
              <a:rPr lang="ru-RU" sz="1200" dirty="0" err="1">
                <a:solidFill>
                  <a:srgbClr val="123194"/>
                </a:solidFill>
              </a:rPr>
              <a:t>дашборда</a:t>
            </a:r>
            <a:r>
              <a:rPr lang="ru-RU" sz="1200" dirty="0">
                <a:solidFill>
                  <a:srgbClr val="123194"/>
                </a:solidFill>
              </a:rPr>
              <a:t> (</a:t>
            </a:r>
            <a:r>
              <a:rPr lang="ru-RU" sz="1200" dirty="0">
                <a:solidFill>
                  <a:srgbClr val="123194"/>
                </a:solidFill>
                <a:hlinkClick r:id="rId5" action="ppaction://hlinksldjump"/>
              </a:rPr>
              <a:t>Динамика оценок во времени</a:t>
            </a:r>
            <a:r>
              <a:rPr lang="ru-RU" sz="1200" dirty="0">
                <a:solidFill>
                  <a:srgbClr val="123194"/>
                </a:solidFill>
              </a:rPr>
              <a:t>, </a:t>
            </a:r>
            <a:r>
              <a:rPr lang="ru-RU" sz="1200" dirty="0">
                <a:solidFill>
                  <a:srgbClr val="123194"/>
                </a:solidFill>
                <a:hlinkClick r:id="rId6" action="ppaction://hlinksldjump"/>
              </a:rPr>
              <a:t>Матрица доход/стаж</a:t>
            </a:r>
            <a:r>
              <a:rPr lang="ru-RU" sz="1200" dirty="0">
                <a:solidFill>
                  <a:srgbClr val="123194"/>
                </a:solidFill>
              </a:rPr>
              <a:t>, </a:t>
            </a:r>
            <a:r>
              <a:rPr lang="ru-RU" sz="1200" dirty="0">
                <a:solidFill>
                  <a:srgbClr val="123194"/>
                </a:solidFill>
                <a:hlinkClick r:id="rId7" action="ppaction://hlinksldjump"/>
              </a:rPr>
              <a:t>Анализ времени отчета</a:t>
            </a:r>
            <a:r>
              <a:rPr lang="ru-RU" sz="1200" dirty="0">
                <a:solidFill>
                  <a:srgbClr val="123194"/>
                </a:solidFill>
              </a:rPr>
              <a:t>, </a:t>
            </a:r>
            <a:r>
              <a:rPr lang="ru-RU" sz="1200" dirty="0">
                <a:solidFill>
                  <a:srgbClr val="123194"/>
                </a:solidFill>
                <a:hlinkClick r:id="rId8" action="ppaction://hlinksldjump"/>
              </a:rPr>
              <a:t>Пример фильтрации по полу</a:t>
            </a:r>
            <a:r>
              <a:rPr lang="ru-RU" sz="1200" dirty="0">
                <a:solidFill>
                  <a:srgbClr val="123194"/>
                </a:solidFill>
              </a:rPr>
              <a:t>) </a:t>
            </a:r>
            <a:endParaRPr sz="1200" dirty="0">
              <a:solidFill>
                <a:srgbClr val="123194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2000" b="1" dirty="0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8"/>
          <p:cNvSpPr/>
          <p:nvPr/>
        </p:nvSpPr>
        <p:spPr>
          <a:xfrm>
            <a:off x="0" y="0"/>
            <a:ext cx="9000000" cy="5040000"/>
          </a:xfrm>
          <a:prstGeom prst="rect">
            <a:avLst/>
          </a:prstGeom>
          <a:solidFill>
            <a:srgbClr val="123194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8" name="Google Shape;128;p2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19488" y="4491378"/>
            <a:ext cx="847909" cy="415398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28"/>
          <p:cNvSpPr txBox="1"/>
          <p:nvPr/>
        </p:nvSpPr>
        <p:spPr>
          <a:xfrm>
            <a:off x="348864" y="633388"/>
            <a:ext cx="7347300" cy="114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5700"/>
              <a:buFont typeface="Arial"/>
              <a:buNone/>
            </a:pPr>
            <a:r>
              <a:rPr lang="ru" sz="4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Спасибо </a:t>
            </a:r>
            <a:br>
              <a:rPr lang="ru" sz="4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" sz="4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за внимание!</a:t>
            </a:r>
            <a:endParaRPr sz="400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30" name="Google Shape;130;p2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458314" y="956815"/>
            <a:ext cx="4438650" cy="413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9B45644-6C09-24FA-C081-E23C53195F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9DA474-AB1A-72E7-8BF9-EAEE9202E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Динамика оценок во времени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E23A733-5605-F9B9-1D2C-6357E4BEC4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792" y="997370"/>
            <a:ext cx="7772400" cy="39232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B90F06C-2B30-DAC5-69E5-4C602C8D1068}"/>
              </a:ext>
            </a:extLst>
          </p:cNvPr>
          <p:cNvSpPr txBox="1"/>
          <p:nvPr/>
        </p:nvSpPr>
        <p:spPr>
          <a:xfrm>
            <a:off x="0" y="0"/>
            <a:ext cx="2830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Приложение</a:t>
            </a:r>
          </a:p>
        </p:txBody>
      </p:sp>
    </p:spTree>
    <p:extLst>
      <p:ext uri="{BB962C8B-B14F-4D97-AF65-F5344CB8AC3E}">
        <p14:creationId xmlns:p14="http://schemas.microsoft.com/office/powerpoint/2010/main" val="29129225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62CF29E-4522-8998-7A1C-DB4F70F85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BA5D4CD-BF8F-58B9-D695-611B00E54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Матрица доход/стаж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F42F2FA-17F4-BEE5-C627-1965539E3A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246" y="997370"/>
            <a:ext cx="8604373" cy="346577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31AE188-851B-4F08-B19A-B894EDC97E49}"/>
              </a:ext>
            </a:extLst>
          </p:cNvPr>
          <p:cNvSpPr txBox="1"/>
          <p:nvPr/>
        </p:nvSpPr>
        <p:spPr>
          <a:xfrm>
            <a:off x="0" y="0"/>
            <a:ext cx="23905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Приложение</a:t>
            </a:r>
          </a:p>
        </p:txBody>
      </p:sp>
    </p:spTree>
    <p:extLst>
      <p:ext uri="{BB962C8B-B14F-4D97-AF65-F5344CB8AC3E}">
        <p14:creationId xmlns:p14="http://schemas.microsoft.com/office/powerpoint/2010/main" val="26641596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E1F1B0B-6A36-A93D-895D-3BDB719AA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3FDCBDA-8E68-B31E-F800-08C5A747F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Анализ времени ответа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A0B244B-0EA4-D123-C248-8CFC09C67A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247" y="955879"/>
            <a:ext cx="7772400" cy="38862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8554E0E-09C5-6F38-4FE3-518DF3EC3EC9}"/>
              </a:ext>
            </a:extLst>
          </p:cNvPr>
          <p:cNvSpPr txBox="1"/>
          <p:nvPr/>
        </p:nvSpPr>
        <p:spPr>
          <a:xfrm>
            <a:off x="0" y="0"/>
            <a:ext cx="33876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Приложение</a:t>
            </a:r>
          </a:p>
        </p:txBody>
      </p:sp>
    </p:spTree>
    <p:extLst>
      <p:ext uri="{BB962C8B-B14F-4D97-AF65-F5344CB8AC3E}">
        <p14:creationId xmlns:p14="http://schemas.microsoft.com/office/powerpoint/2010/main" val="27868949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1B1ED21-9620-5662-0367-18B84B37A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фильтрации по полу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36F84DB-0338-902A-26DC-46C5E07BBD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791" y="1179201"/>
            <a:ext cx="7249886" cy="35907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8887F38-B2AF-B9BF-597C-0C57BF61D13B}"/>
              </a:ext>
            </a:extLst>
          </p:cNvPr>
          <p:cNvSpPr txBox="1"/>
          <p:nvPr/>
        </p:nvSpPr>
        <p:spPr>
          <a:xfrm>
            <a:off x="0" y="0"/>
            <a:ext cx="27606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Приложение</a:t>
            </a:r>
          </a:p>
        </p:txBody>
      </p:sp>
    </p:spTree>
    <p:extLst>
      <p:ext uri="{BB962C8B-B14F-4D97-AF65-F5344CB8AC3E}">
        <p14:creationId xmlns:p14="http://schemas.microsoft.com/office/powerpoint/2010/main" val="3977170171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467</Words>
  <Application>Microsoft Macintosh PowerPoint</Application>
  <PresentationFormat>Произвольный</PresentationFormat>
  <Paragraphs>70</Paragraphs>
  <Slides>15</Slides>
  <Notes>11</Notes>
  <HiddenSlides>4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18" baseType="lpstr">
      <vt:lpstr>Arial</vt:lpstr>
      <vt:lpstr>Montserrat</vt:lpstr>
      <vt:lpstr>Simple Light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Динамика оценок во времени</vt:lpstr>
      <vt:lpstr>Матрица доход/стаж</vt:lpstr>
      <vt:lpstr>Анализ времени ответа</vt:lpstr>
      <vt:lpstr>Пример фильтрации по полу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a13055</cp:lastModifiedBy>
  <cp:revision>5</cp:revision>
  <dcterms:modified xsi:type="dcterms:W3CDTF">2025-12-21T19:50:40Z</dcterms:modified>
</cp:coreProperties>
</file>