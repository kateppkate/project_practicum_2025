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8999538" cy="5040313"/>
  <p:notesSz cx="6858000" cy="9144000"/>
  <p:embeddedFontLst>
    <p:embeddedFont>
      <p:font typeface="Montserrat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9">
          <p15:clr>
            <a:srgbClr val="747775"/>
          </p15:clr>
        </p15:guide>
        <p15:guide id="2" orient="horz" pos="3028">
          <p15:clr>
            <a:srgbClr val="747775"/>
          </p15:clr>
        </p15:guide>
        <p15:guide id="3" orient="horz" pos="534">
          <p15:clr>
            <a:srgbClr val="747775"/>
          </p15:clr>
        </p15:guide>
        <p15:guide id="4" orient="horz" pos="843">
          <p15:clr>
            <a:srgbClr val="747775"/>
          </p15:clr>
        </p15:guide>
        <p15:guide id="5" orient="horz" pos="283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JqYRpqAJC9fto5G3kjxjiBDBh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922CF4-7657-4B3A-9E45-3B50D4FF3100}">
  <a:tblStyle styleId="{68922CF4-7657-4B3A-9E45-3B50D4FF310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tcBdr/>
        <a:fill>
          <a:solidFill>
            <a:srgbClr val="CDD8F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8F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96"/>
    <p:restoredTop sz="94720"/>
  </p:normalViewPr>
  <p:slideViewPr>
    <p:cSldViewPr snapToGrid="0">
      <p:cViewPr varScale="1">
        <p:scale>
          <a:sx n="292" d="100"/>
          <a:sy n="292" d="100"/>
        </p:scale>
        <p:origin x="1568" y="176"/>
      </p:cViewPr>
      <p:guideLst>
        <p:guide pos="289"/>
        <p:guide orient="horz" pos="3028"/>
        <p:guide orient="horz" pos="534"/>
        <p:guide orient="horz" pos="843"/>
        <p:guide orient="horz" pos="2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67712" y="685800"/>
            <a:ext cx="6123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2ee44776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3b2ee44776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2ee44776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b2ee44776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2f27df8c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b2f27df8c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2f27df8c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3b2f27df8c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ctrTitle"/>
          </p:nvPr>
        </p:nvSpPr>
        <p:spPr>
          <a:xfrm>
            <a:off x="306800" y="729592"/>
            <a:ext cx="8386500" cy="20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30"/>
          <p:cNvSpPr txBox="1">
            <a:spLocks noGrp="1"/>
          </p:cNvSpPr>
          <p:nvPr>
            <p:ph type="subTitle" idx="1"/>
          </p:nvPr>
        </p:nvSpPr>
        <p:spPr>
          <a:xfrm>
            <a:off x="306791" y="2777095"/>
            <a:ext cx="8386500" cy="7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title"/>
          </p:nvPr>
        </p:nvSpPr>
        <p:spPr>
          <a:xfrm>
            <a:off x="306791" y="2107570"/>
            <a:ext cx="8386500" cy="8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1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2"/>
          <p:cNvSpPr txBox="1">
            <a:spLocks noGrp="1"/>
          </p:cNvSpPr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2"/>
          <p:cNvSpPr txBox="1">
            <a:spLocks noGrp="1"/>
          </p:cNvSpPr>
          <p:nvPr>
            <p:ph type="body" idx="1"/>
          </p:nvPr>
        </p:nvSpPr>
        <p:spPr>
          <a:xfrm>
            <a:off x="306791" y="1129284"/>
            <a:ext cx="8386500" cy="3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32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3"/>
          <p:cNvSpPr txBox="1">
            <a:spLocks noGrp="1"/>
          </p:cNvSpPr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body" idx="1"/>
          </p:nvPr>
        </p:nvSpPr>
        <p:spPr>
          <a:xfrm>
            <a:off x="306791" y="1129284"/>
            <a:ext cx="3936900" cy="3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3"/>
          <p:cNvSpPr txBox="1">
            <a:spLocks noGrp="1"/>
          </p:cNvSpPr>
          <p:nvPr>
            <p:ph type="body" idx="2"/>
          </p:nvPr>
        </p:nvSpPr>
        <p:spPr>
          <a:xfrm>
            <a:off x="4756299" y="1129284"/>
            <a:ext cx="3936900" cy="3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3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5"/>
          <p:cNvSpPr txBox="1">
            <a:spLocks noGrp="1"/>
          </p:cNvSpPr>
          <p:nvPr>
            <p:ph type="title"/>
          </p:nvPr>
        </p:nvSpPr>
        <p:spPr>
          <a:xfrm>
            <a:off x="306791" y="544420"/>
            <a:ext cx="27639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body" idx="1"/>
          </p:nvPr>
        </p:nvSpPr>
        <p:spPr>
          <a:xfrm>
            <a:off x="306791" y="1361638"/>
            <a:ext cx="27639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6"/>
          <p:cNvSpPr txBox="1">
            <a:spLocks noGrp="1"/>
          </p:cNvSpPr>
          <p:nvPr>
            <p:ph type="title"/>
          </p:nvPr>
        </p:nvSpPr>
        <p:spPr>
          <a:xfrm>
            <a:off x="482530" y="441092"/>
            <a:ext cx="6267600" cy="4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6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7"/>
          <p:cNvSpPr/>
          <p:nvPr/>
        </p:nvSpPr>
        <p:spPr>
          <a:xfrm>
            <a:off x="4500000" y="-122"/>
            <a:ext cx="4500000" cy="50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7"/>
          <p:cNvSpPr txBox="1">
            <a:spLocks noGrp="1"/>
          </p:cNvSpPr>
          <p:nvPr>
            <p:ph type="title"/>
          </p:nvPr>
        </p:nvSpPr>
        <p:spPr>
          <a:xfrm>
            <a:off x="261319" y="1208360"/>
            <a:ext cx="3981600" cy="14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7"/>
          <p:cNvSpPr txBox="1">
            <a:spLocks noGrp="1"/>
          </p:cNvSpPr>
          <p:nvPr>
            <p:ph type="subTitle" idx="1"/>
          </p:nvPr>
        </p:nvSpPr>
        <p:spPr>
          <a:xfrm>
            <a:off x="261319" y="2746670"/>
            <a:ext cx="3981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7"/>
          <p:cNvSpPr txBox="1">
            <a:spLocks noGrp="1"/>
          </p:cNvSpPr>
          <p:nvPr>
            <p:ph type="body" idx="2"/>
          </p:nvPr>
        </p:nvSpPr>
        <p:spPr>
          <a:xfrm>
            <a:off x="4861713" y="709505"/>
            <a:ext cx="3776700" cy="3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7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8"/>
          <p:cNvSpPr txBox="1">
            <a:spLocks noGrp="1"/>
          </p:cNvSpPr>
          <p:nvPr>
            <p:ph type="body" idx="1"/>
          </p:nvPr>
        </p:nvSpPr>
        <p:spPr>
          <a:xfrm>
            <a:off x="306791" y="4145445"/>
            <a:ext cx="59043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8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 txBox="1">
            <a:spLocks noGrp="1"/>
          </p:cNvSpPr>
          <p:nvPr>
            <p:ph type="title" hasCustomPrompt="1"/>
          </p:nvPr>
        </p:nvSpPr>
        <p:spPr>
          <a:xfrm>
            <a:off x="306791" y="1083867"/>
            <a:ext cx="8386500" cy="19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9"/>
          <p:cNvSpPr txBox="1">
            <a:spLocks noGrp="1"/>
          </p:cNvSpPr>
          <p:nvPr>
            <p:ph type="body" idx="1"/>
          </p:nvPr>
        </p:nvSpPr>
        <p:spPr>
          <a:xfrm>
            <a:off x="306791" y="3088794"/>
            <a:ext cx="8386500" cy="12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9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0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>
            <a:spLocks noGrp="1"/>
          </p:cNvSpPr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9"/>
          <p:cNvSpPr txBox="1">
            <a:spLocks noGrp="1"/>
          </p:cNvSpPr>
          <p:nvPr>
            <p:ph type="body" idx="1"/>
          </p:nvPr>
        </p:nvSpPr>
        <p:spPr>
          <a:xfrm>
            <a:off x="306791" y="1129284"/>
            <a:ext cx="8386500" cy="3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9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8c086255733c99a4e6.gradio.live/" TargetMode="External"/><Relationship Id="rId4" Type="http://schemas.openxmlformats.org/officeDocument/2006/relationships/hyperlink" Target="https://25df293e85c63bb5b8.gradio.live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348858" y="3853497"/>
            <a:ext cx="7347300" cy="11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Ваганов А.А.</a:t>
            </a:r>
            <a:endParaRPr sz="16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"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Валова Е.В.</a:t>
            </a:r>
            <a:endParaRPr sz="16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"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Волык И.Я.</a:t>
            </a:r>
            <a:endParaRPr sz="16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9623" y="156412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337836" y="357677"/>
            <a:ext cx="7347300" cy="11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Проектный практикум 2025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lang="ru"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Кейс 2: оценка мобильного приложения</a:t>
            </a:r>
            <a:endParaRPr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27305" y="793440"/>
            <a:ext cx="5270740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 i="0" u="none" strike="noStrike" cap="non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Команда</a:t>
            </a:r>
            <a:endParaRPr sz="2800" b="1" i="0" u="none" strike="noStrike" cap="non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4" name="Google Shape;64;p5"/>
          <p:cNvGraphicFramePr/>
          <p:nvPr>
            <p:extLst>
              <p:ext uri="{D42A27DB-BD31-4B8C-83A1-F6EECF244321}">
                <p14:modId xmlns:p14="http://schemas.microsoft.com/office/powerpoint/2010/main" val="3940468616"/>
              </p:ext>
            </p:extLst>
          </p:nvPr>
        </p:nvGraphicFramePr>
        <p:xfrm>
          <a:off x="368558" y="2442980"/>
          <a:ext cx="8041800" cy="1219240"/>
        </p:xfrm>
        <a:graphic>
          <a:graphicData uri="http://schemas.openxmlformats.org/drawingml/2006/table">
            <a:tbl>
              <a:tblPr firstRow="1" bandRow="1">
                <a:noFill/>
                <a:tableStyleId>{68922CF4-7657-4B3A-9E45-3B50D4FF3100}</a:tableStyleId>
              </a:tblPr>
              <a:tblGrid>
                <a:gridCol w="160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u="none" strike="noStrike" cap="none" dirty="0"/>
                        <a:t>Студент</a:t>
                      </a:r>
                      <a:endParaRPr sz="1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u="none" strike="noStrike" cap="none"/>
                        <a:t>Роль и задачи</a:t>
                      </a:r>
                      <a:endParaRPr sz="1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 dirty="0"/>
                        <a:t>Ваганов А.А.</a:t>
                      </a:r>
                      <a:endParaRPr sz="1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dirty="0"/>
                        <a:t>Выполнение заданий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8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/>
                        <a:t>Валова Е.В.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dirty="0"/>
                        <a:t>Лидер команды. Распределение ролей и выполнение заданий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/>
                        <a:t>Волык И.Я.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ru" sz="1400" dirty="0"/>
                        <a:t>Выполнение заданий</a:t>
                      </a:r>
                      <a:endParaRPr sz="14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5" name="Google Shape;6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3874" y="3505200"/>
            <a:ext cx="1405664" cy="15351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4503F1-3443-FB51-1675-9BF4D68EAB79}"/>
              </a:ext>
            </a:extLst>
          </p:cNvPr>
          <p:cNvSpPr txBox="1"/>
          <p:nvPr/>
        </p:nvSpPr>
        <p:spPr>
          <a:xfrm>
            <a:off x="368558" y="1390450"/>
            <a:ext cx="804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1400" dirty="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Задания распределялись между всеми участниками в равной мере на каждом</a:t>
            </a:r>
            <a:r>
              <a:rPr lang="en-US" sz="1400" dirty="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400" dirty="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этапе проекта</a:t>
            </a:r>
            <a:endParaRPr lang="ru" sz="1400" dirty="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 i="0" u="none" strike="noStrike" cap="non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Информация о данных</a:t>
            </a:r>
            <a:endParaRPr sz="2800" b="1" i="0" u="none" strike="noStrike" cap="non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0746" y="3578323"/>
            <a:ext cx="1838325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/>
        </p:nvSpPr>
        <p:spPr>
          <a:xfrm>
            <a:off x="458800" y="847731"/>
            <a:ext cx="8247900" cy="36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1500" dirty="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Для исследования использовался набор данных, содержащий результаты опроса пользователей мобильного приложения для управления пенсионными накоплениями. Данные были собраны в апреле–мае 2025 года и содержат около 40 тысяч записей.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500" dirty="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1500" dirty="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Каждая запись включает информацию о пользователе (возраст, пол, стаж использования приложения, доход) и его оценке удовлетворённости (CSAT) по 5-балльной шкале. Также фиксируются дата отправки опроса и дата ответа.</a:t>
            </a:r>
            <a:endParaRPr sz="1500" dirty="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ru" sz="1500" dirty="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1500" dirty="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Основная целевая переменная — уровень удовлетворённости, который является ключевым показателем для оценки качества приложения и выявления факторов, влияющих на пользовательский опыт.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ru" sz="1500" dirty="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 i="0" u="none" strike="noStrike" cap="non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Сформулированные гипотезы</a:t>
            </a:r>
            <a:endParaRPr sz="2800" b="1" i="0" u="none" strike="noStrike" cap="non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9" name="Google Shape;79;p2"/>
          <p:cNvGraphicFramePr/>
          <p:nvPr>
            <p:extLst>
              <p:ext uri="{D42A27DB-BD31-4B8C-83A1-F6EECF244321}">
                <p14:modId xmlns:p14="http://schemas.microsoft.com/office/powerpoint/2010/main" val="3494212642"/>
              </p:ext>
            </p:extLst>
          </p:nvPr>
        </p:nvGraphicFramePr>
        <p:xfrm>
          <a:off x="471608" y="1697176"/>
          <a:ext cx="8041799" cy="1645960"/>
        </p:xfrm>
        <a:graphic>
          <a:graphicData uri="http://schemas.openxmlformats.org/drawingml/2006/table">
            <a:tbl>
              <a:tblPr firstRow="1" bandRow="1">
                <a:noFill/>
                <a:tableStyleId>{68922CF4-7657-4B3A-9E45-3B50D4FF3100}</a:tableStyleId>
              </a:tblPr>
              <a:tblGrid>
                <a:gridCol w="49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3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973">
                  <a:extLst>
                    <a:ext uri="{9D8B030D-6E8A-4147-A177-3AD203B41FA5}">
                      <a16:colId xmlns:a16="http://schemas.microsoft.com/office/drawing/2014/main" val="6241711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№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Гипотеза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/>
                        <a:t>Итог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9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dirty="0"/>
                        <a:t>1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/>
                        <a:t>Распределения оценок мужчин и женщин отличаются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/>
                        <a:t>Подтвердилась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5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dirty="0"/>
                        <a:t>2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/>
                        <a:t>Распределения оценок возрастных групп 18–24 и 55–65 различаются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/>
                        <a:t>Подтвердилась</a:t>
                      </a:r>
                      <a:endParaRPr lang="ru-RU"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dirty="0"/>
                        <a:t>3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/>
                        <a:t>Распределения оценок групп с высоким и низким доходом различаются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/>
                        <a:t>Подтвердилась</a:t>
                      </a:r>
                      <a:endParaRPr lang="ru-RU"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8" name="Google Shape;7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8975" y="3068638"/>
            <a:ext cx="1619250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 i="0" u="none" strike="noStrike" cap="none" dirty="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Визуализация Гипотезы 1</a:t>
            </a:r>
            <a:endParaRPr sz="2800" b="1" i="0" u="none" strike="noStrike" cap="none" dirty="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5" name="Google Shape;8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3756" y="635762"/>
            <a:ext cx="1828800" cy="41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3"/>
          <p:cNvPicPr preferRelativeResize="0"/>
          <p:nvPr/>
        </p:nvPicPr>
        <p:blipFill>
          <a:blip r:embed="rId4">
            <a:alphaModFix/>
          </a:blip>
          <a:srcRect t="5878"/>
          <a:stretch/>
        </p:blipFill>
        <p:spPr>
          <a:xfrm>
            <a:off x="369332" y="1103449"/>
            <a:ext cx="6332696" cy="384484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368550" y="847725"/>
            <a:ext cx="3167130" cy="381600"/>
          </a:xfrm>
          <a:prstGeom prst="rect">
            <a:avLst/>
          </a:prstGeom>
          <a:noFill/>
          <a:ln>
            <a:noFill/>
          </a:ln>
          <a:effectLst>
            <a:outerShdw blurRad="57150" dist="19050"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>
              <a:buSzPct val="100000"/>
            </a:pPr>
            <a:r>
              <a:rPr lang="ru-RU" sz="2800" b="1" dirty="0">
                <a:solidFill>
                  <a:srgbClr val="123194"/>
                </a:solidFill>
                <a:latin typeface="Montserrat"/>
              </a:rPr>
              <a:t>Распределения оценок мужчин и женщин отличаются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ru-RU" sz="2800" b="1" i="0" u="none" strike="noStrike" cap="none" dirty="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4;p3">
            <a:extLst>
              <a:ext uri="{FF2B5EF4-FFF2-40B4-BE49-F238E27FC236}">
                <a16:creationId xmlns:a16="http://schemas.microsoft.com/office/drawing/2014/main" id="{BD57F03F-EFB1-BD1A-9D65-176CE1CF2181}"/>
              </a:ext>
            </a:extLst>
          </p:cNvPr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 i="0" u="none" strike="noStrike" cap="none" dirty="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Визуализация Гипотезы 2</a:t>
            </a:r>
            <a:endParaRPr sz="2800" b="1" i="0" u="none" strike="noStrike" cap="none" dirty="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2" name="Google Shape;92;g3b2ee44776e_0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63756" y="635762"/>
            <a:ext cx="1828800" cy="41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b2ee44776e_0_17"/>
          <p:cNvPicPr preferRelativeResize="0"/>
          <p:nvPr/>
        </p:nvPicPr>
        <p:blipFill>
          <a:blip r:embed="rId4">
            <a:alphaModFix/>
          </a:blip>
          <a:srcRect t="6417"/>
          <a:stretch/>
        </p:blipFill>
        <p:spPr>
          <a:xfrm>
            <a:off x="292460" y="1055805"/>
            <a:ext cx="6438004" cy="38864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7;p3">
            <a:extLst>
              <a:ext uri="{FF2B5EF4-FFF2-40B4-BE49-F238E27FC236}">
                <a16:creationId xmlns:a16="http://schemas.microsoft.com/office/drawing/2014/main" id="{5A62630C-1D91-F0B8-492E-00683CDB5F24}"/>
              </a:ext>
            </a:extLst>
          </p:cNvPr>
          <p:cNvSpPr txBox="1"/>
          <p:nvPr/>
        </p:nvSpPr>
        <p:spPr>
          <a:xfrm>
            <a:off x="368549" y="847725"/>
            <a:ext cx="4834821" cy="381600"/>
          </a:xfrm>
          <a:prstGeom prst="rect">
            <a:avLst/>
          </a:prstGeom>
          <a:noFill/>
          <a:ln>
            <a:noFill/>
          </a:ln>
          <a:effectLst>
            <a:outerShdw blurRad="57150" dist="19050"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>
              <a:buSzPct val="100000"/>
            </a:pPr>
            <a:r>
              <a:rPr lang="ru-RU" sz="2800" b="1" dirty="0">
                <a:solidFill>
                  <a:srgbClr val="123194"/>
                </a:solidFill>
                <a:latin typeface="Montserrat"/>
              </a:rPr>
              <a:t>Распределения оценок возрастных групп 18–24 и 55–65 различаются</a:t>
            </a:r>
          </a:p>
          <a:p>
            <a:pPr>
              <a:buSzPct val="100000"/>
            </a:pPr>
            <a:endParaRPr lang="ru-RU" sz="2800" b="1" dirty="0">
              <a:solidFill>
                <a:srgbClr val="123194"/>
              </a:solidFill>
              <a:latin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ru-RU" sz="2800" b="1" i="0" u="none" strike="noStrike" cap="none" dirty="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3b2ee44776e_0_25"/>
          <p:cNvPicPr preferRelativeResize="0"/>
          <p:nvPr/>
        </p:nvPicPr>
        <p:blipFill>
          <a:blip r:embed="rId3">
            <a:alphaModFix/>
          </a:blip>
          <a:srcRect t="8917"/>
          <a:stretch/>
        </p:blipFill>
        <p:spPr>
          <a:xfrm>
            <a:off x="368549" y="1105987"/>
            <a:ext cx="6819376" cy="3825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b2ee44776e_0_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63756" y="635762"/>
            <a:ext cx="1828800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4;p3">
            <a:extLst>
              <a:ext uri="{FF2B5EF4-FFF2-40B4-BE49-F238E27FC236}">
                <a16:creationId xmlns:a16="http://schemas.microsoft.com/office/drawing/2014/main" id="{C375939C-F8FB-074C-C268-F85C6B7ACC95}"/>
              </a:ext>
            </a:extLst>
          </p:cNvPr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 i="0" u="none" strike="noStrike" cap="none" dirty="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Визуализация Гипотезы 3</a:t>
            </a:r>
            <a:endParaRPr sz="2800" b="1" i="0" u="none" strike="noStrike" cap="none" dirty="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87;p3">
            <a:extLst>
              <a:ext uri="{FF2B5EF4-FFF2-40B4-BE49-F238E27FC236}">
                <a16:creationId xmlns:a16="http://schemas.microsoft.com/office/drawing/2014/main" id="{7DB05BEF-28D9-D501-2FE9-A9FF97A85EEC}"/>
              </a:ext>
            </a:extLst>
          </p:cNvPr>
          <p:cNvSpPr txBox="1"/>
          <p:nvPr/>
        </p:nvSpPr>
        <p:spPr>
          <a:xfrm>
            <a:off x="368549" y="847725"/>
            <a:ext cx="4364559" cy="381600"/>
          </a:xfrm>
          <a:prstGeom prst="rect">
            <a:avLst/>
          </a:prstGeom>
          <a:noFill/>
          <a:ln>
            <a:noFill/>
          </a:ln>
          <a:effectLst>
            <a:outerShdw blurRad="57150" dist="19050" algn="bl" rotWithShape="0">
              <a:srgbClr val="000000">
                <a:alpha val="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>
              <a:buSzPct val="100000"/>
            </a:pPr>
            <a:r>
              <a:rPr lang="ru-RU" sz="2800" b="1" dirty="0">
                <a:solidFill>
                  <a:srgbClr val="123194"/>
                </a:solidFill>
                <a:latin typeface="Montserrat"/>
              </a:rPr>
              <a:t>Распределения оценок групп с высоким и низким доходом различаются</a:t>
            </a:r>
          </a:p>
          <a:p>
            <a:pPr>
              <a:buSzPct val="100000"/>
            </a:pPr>
            <a:endParaRPr lang="ru-RU" sz="2800" b="1" dirty="0">
              <a:solidFill>
                <a:srgbClr val="123194"/>
              </a:solidFill>
              <a:latin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ru-RU" sz="2800" b="1" i="0" u="none" strike="noStrike" cap="none" dirty="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2f27df8c3_0_1"/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Выводы</a:t>
            </a:r>
            <a:endParaRPr sz="2800" b="1" i="0" u="none" strike="noStrike" cap="non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" name="Google Shape;107;g3b2f27df8c3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0746" y="3578323"/>
            <a:ext cx="1838325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b2f27df8c3_0_1"/>
          <p:cNvSpPr txBox="1"/>
          <p:nvPr/>
        </p:nvSpPr>
        <p:spPr>
          <a:xfrm>
            <a:off x="288575" y="769850"/>
            <a:ext cx="6816600" cy="40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23194"/>
              </a:buClr>
              <a:buSzPts val="1100"/>
              <a:buAutoNum type="arabicPeriod"/>
            </a:pPr>
            <a:r>
              <a:rPr lang="ru" sz="1100" b="1" dirty="0">
                <a:solidFill>
                  <a:srgbClr val="123194"/>
                </a:solidFill>
              </a:rPr>
              <a:t>Молодая аудитория (18–24 года):</a:t>
            </a:r>
            <a:endParaRPr sz="1100" b="1" dirty="0">
              <a:solidFill>
                <a:srgbClr val="123194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3194"/>
              </a:buClr>
              <a:buSzPts val="1100"/>
              <a:buChar char="●"/>
            </a:pPr>
            <a:r>
              <a:rPr lang="ru" sz="1100" dirty="0">
                <a:solidFill>
                  <a:srgbClr val="123194"/>
                </a:solidFill>
              </a:rPr>
              <a:t>Уровень CSAT значимо ниже, чем у старшего поколения.</a:t>
            </a:r>
            <a:endParaRPr sz="1100" dirty="0">
              <a:solidFill>
                <a:srgbClr val="123194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3194"/>
              </a:buClr>
              <a:buSzPts val="1100"/>
              <a:buChar char="●"/>
            </a:pPr>
            <a:r>
              <a:rPr lang="ru" sz="1100" dirty="0">
                <a:solidFill>
                  <a:srgbClr val="123194"/>
                </a:solidFill>
              </a:rPr>
              <a:t>Исследовать причины низкой вовлечённости через юзабилити-тесты и углублённые интервью с этой группой. Возможно, требуется упрощение интерфейса, геймификация или создание образовательного контента о важности пенсионных накоплений.</a:t>
            </a:r>
          </a:p>
          <a:p>
            <a:pPr marL="61595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3194"/>
              </a:buClr>
              <a:buSzPts val="1100"/>
            </a:pPr>
            <a:endParaRPr sz="1100" dirty="0">
              <a:solidFill>
                <a:srgbClr val="123194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3194"/>
              </a:buClr>
              <a:buSzPts val="1100"/>
              <a:buAutoNum type="arabicPeriod"/>
            </a:pPr>
            <a:r>
              <a:rPr lang="ru" sz="1100" b="1" dirty="0">
                <a:solidFill>
                  <a:srgbClr val="123194"/>
                </a:solidFill>
              </a:rPr>
              <a:t>Пользователи с высоким доходом (&gt;100K руб.):</a:t>
            </a:r>
            <a:endParaRPr sz="1100" b="1" dirty="0">
              <a:solidFill>
                <a:srgbClr val="123194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3194"/>
              </a:buClr>
              <a:buSzPts val="1100"/>
              <a:buChar char="●"/>
            </a:pPr>
            <a:r>
              <a:rPr lang="ru" sz="1100" dirty="0">
                <a:solidFill>
                  <a:srgbClr val="123194"/>
                </a:solidFill>
              </a:rPr>
              <a:t>Оценивают приложение строже.</a:t>
            </a:r>
            <a:endParaRPr sz="1100" dirty="0">
              <a:solidFill>
                <a:srgbClr val="123194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3194"/>
              </a:buClr>
              <a:buSzPts val="1100"/>
              <a:buChar char="●"/>
            </a:pPr>
            <a:r>
              <a:rPr lang="ru" sz="1100" dirty="0">
                <a:solidFill>
                  <a:srgbClr val="123194"/>
                </a:solidFill>
              </a:rPr>
              <a:t>Проработать возможность внедрения премиум-функций (например, расширенная аналитика портфеля, персональный консультант, интеграция с другими финансовыми сервисами). Это повысит ценность приложения для требовательной аудитории.</a:t>
            </a: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3194"/>
              </a:buClr>
              <a:buSzPts val="1100"/>
              <a:buChar char="●"/>
            </a:pPr>
            <a:endParaRPr sz="1100" dirty="0">
              <a:solidFill>
                <a:srgbClr val="123194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3194"/>
              </a:buClr>
              <a:buSzPts val="1100"/>
              <a:buAutoNum type="arabicPeriod"/>
            </a:pPr>
            <a:r>
              <a:rPr lang="ru" sz="1100" b="1" dirty="0">
                <a:solidFill>
                  <a:srgbClr val="123194"/>
                </a:solidFill>
              </a:rPr>
              <a:t>Гендерная разница:</a:t>
            </a:r>
            <a:endParaRPr sz="1100" b="1" dirty="0">
              <a:solidFill>
                <a:srgbClr val="123194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3194"/>
              </a:buClr>
              <a:buSzPts val="1100"/>
              <a:buChar char="●"/>
            </a:pPr>
            <a:r>
              <a:rPr lang="ru" sz="1100" dirty="0">
                <a:solidFill>
                  <a:srgbClr val="123194"/>
                </a:solidFill>
              </a:rPr>
              <a:t>Разница в оценках между мужчинами и женщинами статистически значима, хотя и невелика.</a:t>
            </a:r>
            <a:endParaRPr sz="1100" dirty="0">
              <a:solidFill>
                <a:srgbClr val="123194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3194"/>
              </a:buClr>
              <a:buSzPts val="1200"/>
              <a:buChar char="●"/>
            </a:pPr>
            <a:r>
              <a:rPr lang="ru" sz="1100" dirty="0">
                <a:solidFill>
                  <a:srgbClr val="123194"/>
                </a:solidFill>
              </a:rPr>
              <a:t>Провести аудит интерфейса и контента на предмет возможной гендерной предвзятости. Убедиться, что визуальный ряд, язык коммуникации и примеры в приложении равно релевантны всем пользователям</a:t>
            </a:r>
            <a:r>
              <a:rPr lang="ru" sz="1200" dirty="0">
                <a:solidFill>
                  <a:srgbClr val="123194"/>
                </a:solidFill>
              </a:rPr>
              <a:t>.</a:t>
            </a:r>
            <a:endParaRPr sz="1200" dirty="0">
              <a:solidFill>
                <a:srgbClr val="123194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500" b="1" dirty="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2f27df8c3_0_8"/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Следующие шаги:</a:t>
            </a:r>
            <a:endParaRPr sz="2800" b="1" i="0" u="none" strike="noStrike" cap="non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4" name="Google Shape;114;g3b2f27df8c3_0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0746" y="3578323"/>
            <a:ext cx="1838325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b2f27df8c3_0_8"/>
          <p:cNvSpPr txBox="1"/>
          <p:nvPr/>
        </p:nvSpPr>
        <p:spPr>
          <a:xfrm>
            <a:off x="266450" y="784550"/>
            <a:ext cx="8019756" cy="4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23194"/>
              </a:buClr>
              <a:buSzPts val="1200"/>
              <a:buChar char="●"/>
            </a:pPr>
            <a:r>
              <a:rPr lang="ru" sz="1600" dirty="0">
                <a:solidFill>
                  <a:srgbClr val="123194"/>
                </a:solidFill>
              </a:rPr>
              <a:t>Внедрить рекомендации, начиная с сегмента молодых пользователей, как наиболее проблемного.</a:t>
            </a:r>
            <a:endParaRPr sz="1600" dirty="0">
              <a:solidFill>
                <a:srgbClr val="123194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3194"/>
              </a:buClr>
              <a:buSzPts val="1200"/>
              <a:buChar char="●"/>
            </a:pPr>
            <a:endParaRPr sz="1600" dirty="0">
              <a:solidFill>
                <a:srgbClr val="123194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3194"/>
              </a:buClr>
              <a:buSzPts val="1200"/>
              <a:buChar char="●"/>
            </a:pPr>
            <a:r>
              <a:rPr lang="ru" sz="1600" dirty="0">
                <a:solidFill>
                  <a:srgbClr val="123194"/>
                </a:solidFill>
              </a:rPr>
              <a:t>Включить ключевые показатели по выделенным сегментам (CSAT, retention rate) в регулярную отчётность для оценки эффективности изменений.</a:t>
            </a:r>
            <a:endParaRPr sz="1600" dirty="0">
              <a:solidFill>
                <a:srgbClr val="123194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3194"/>
              </a:buClr>
              <a:buSzPts val="1200"/>
              <a:buChar char="●"/>
            </a:pPr>
            <a:endParaRPr sz="1600" dirty="0">
              <a:solidFill>
                <a:srgbClr val="123194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3194"/>
              </a:buClr>
              <a:buSzPts val="1200"/>
              <a:buChar char="●"/>
            </a:pPr>
            <a:r>
              <a:rPr lang="ru" sz="1600" dirty="0">
                <a:solidFill>
                  <a:srgbClr val="123194"/>
                </a:solidFill>
              </a:rPr>
              <a:t>Провести качественное исследование (интервью, фокус-группы) для проверки выдвинутых гипотез о причинах низких оценок.</a:t>
            </a:r>
            <a:endParaRPr sz="1600" dirty="0">
              <a:solidFill>
                <a:srgbClr val="123194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000" b="1" dirty="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 i="0" u="none" strike="noStrike" cap="non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Дашборд в Gradio</a:t>
            </a:r>
            <a:endParaRPr sz="2800" b="1" i="0" u="none" strike="noStrike" cap="non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9856" y="3220363"/>
            <a:ext cx="2038350" cy="16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368558" y="1217654"/>
            <a:ext cx="8167800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3000" b="0" i="0" u="sng" strike="noStrike" cap="none" dirty="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Ссылка </a:t>
            </a:r>
            <a:r>
              <a:rPr lang="ru" sz="3000" b="0" i="0" u="sng" strike="noStrike" cap="none" dirty="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на дашборд</a:t>
            </a:r>
            <a:endParaRPr lang="ru" sz="3000" b="0" i="0" u="sng" strike="noStrike" cap="none" dirty="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lang="ru" sz="3000" u="sng" dirty="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115;g3b2f27df8c3_0_8">
            <a:extLst>
              <a:ext uri="{FF2B5EF4-FFF2-40B4-BE49-F238E27FC236}">
                <a16:creationId xmlns:a16="http://schemas.microsoft.com/office/drawing/2014/main" id="{83AF368E-9343-63E8-D42B-81FDE7DC7382}"/>
              </a:ext>
            </a:extLst>
          </p:cNvPr>
          <p:cNvSpPr txBox="1"/>
          <p:nvPr/>
        </p:nvSpPr>
        <p:spPr>
          <a:xfrm>
            <a:off x="368558" y="2287814"/>
            <a:ext cx="8019756" cy="87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1100" b="1" dirty="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https://25df293e85c63bb5b8.gradio.live/</a:t>
            </a:r>
            <a:endParaRPr sz="1100" b="1" dirty="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488" y="4491378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8"/>
          <p:cNvSpPr txBox="1"/>
          <p:nvPr/>
        </p:nvSpPr>
        <p:spPr>
          <a:xfrm>
            <a:off x="348864" y="633388"/>
            <a:ext cx="7347300" cy="11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lang="ru"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</a:t>
            </a:r>
            <a:br>
              <a:rPr lang="ru"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за внимание!</a:t>
            </a:r>
            <a:endParaRPr sz="40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58314" y="956815"/>
            <a:ext cx="4438650" cy="4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434</Words>
  <Application>Microsoft Macintosh PowerPoint</Application>
  <PresentationFormat>Произвольный</PresentationFormat>
  <Paragraphs>62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Montserrat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a13055</cp:lastModifiedBy>
  <cp:revision>8</cp:revision>
  <dcterms:modified xsi:type="dcterms:W3CDTF">2025-12-21T20:10:53Z</dcterms:modified>
</cp:coreProperties>
</file>